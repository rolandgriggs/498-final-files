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8.xml"/>
  <Override ContentType="application/vnd.openxmlformats-officedocument.presentationml.comments+xml" PartName="/ppt/comments/comment5.xml"/>
  <Override ContentType="application/vnd.openxmlformats-officedocument.presentationml.comments+xml" PartName="/ppt/comments/comment6.xml"/>
  <Override ContentType="application/vnd.openxmlformats-officedocument.presentationml.comments+xml" PartName="/ppt/comments/comment7.xml"/>
  <Override ContentType="application/vnd.openxmlformats-officedocument.presentationml.comments+xml" PartName="/ppt/comments/comment4.xml"/>
  <Override ContentType="application/vnd.openxmlformats-officedocument.presentationml.comments+xml" PartName="/ppt/comments/comment3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12192000"/>
  <p:notesSz cx="6858000" cy="12192000"/>
  <p:embeddedFontLst>
    <p:embeddedFont>
      <p:font typeface="Space Mon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3" name="Xavi Xavier Griggs"/>
  <p:cmAuthor clrIdx="1" id="1" initials="" lastIdx="6" name="Jessica Ines DaSilva Morais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SpaceMono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SpaceMon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SpaceMono-boldItalic.fntdata"/><Relationship Id="rId30" Type="http://schemas.openxmlformats.org/officeDocument/2006/relationships/font" Target="fonts/SpaceMon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4-28T23:21:14.241">
    <p:pos x="0" y="0"/>
    <p:text>We need to change the font of the whole presenation to time new roman
1 total reaction
Samandar Jakbarov reacted with 👌 at 2026-04-28 23:21 PM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04-28T23:06:20.275">
    <p:pos x="3377" y="976"/>
    <p:text>We may revisit this topic</p:tex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6-04-28T23:27:36.135">
    <p:pos x="6000" y="0"/>
    <p:text>Done</p:tex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1" dt="2026-05-05T19:37:27.943">
    <p:pos x="3909" y="1068"/>
    <p:text>Be sure to define "routine jobs" during the presentation and give examples</p:text>
  </p:cm>
  <p:cm authorId="1" idx="2" dt="2026-05-05T19:38:05.088">
    <p:pos x="3909" y="1168"/>
    <p:text>Be sure to defined "skilled work" and give examples during presentation</p:text>
  </p:cm>
</p:cmLst>
</file>

<file path=ppt/comments/comment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3" dt="2026-05-02T03:25:02.877">
    <p:pos x="300" y="1068"/>
    <p:text>Title
Footnote
Assign proper order</p:text>
  </p:cm>
</p:cmLst>
</file>

<file path=ppt/comments/comment6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4" dt="2026-05-02T03:29:11.929">
    <p:pos x="6000" y="0"/>
    <p:text>Title 
Footnote
Assign Proper Placement
Keep one slide before %empChng by time frame slide</p:text>
  </p:cm>
</p:cmLst>
</file>

<file path=ppt/comments/comment7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5" dt="2026-05-02T03:25:27.896">
    <p:pos x="6000" y="0"/>
    <p:text>Title 
Footnote
Assign Proper Placement</p:text>
  </p:cm>
</p:cmLst>
</file>

<file path=ppt/comments/comment8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6" dt="2026-05-05T20:04:18.854">
    <p:pos x="3318" y="983"/>
    <p:text>how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xavi</a:t>
            </a:r>
            <a:endParaRPr/>
          </a:p>
        </p:txBody>
      </p:sp>
      <p:sp>
        <p:nvSpPr>
          <p:cNvPr id="46" name="Google Shape;4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xavi</a:t>
            </a:r>
            <a:endParaRPr/>
          </a:p>
        </p:txBody>
      </p:sp>
      <p:sp>
        <p:nvSpPr>
          <p:cNvPr id="56" name="Google Shape;5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jess</a:t>
            </a:r>
            <a:endParaRPr/>
          </a:p>
        </p:txBody>
      </p:sp>
      <p:sp>
        <p:nvSpPr>
          <p:cNvPr id="66" name="Google Shape;6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e67f79d708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e67f79d708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xavi</a:t>
            </a:r>
            <a:endParaRPr/>
          </a:p>
        </p:txBody>
      </p:sp>
      <p:sp>
        <p:nvSpPr>
          <p:cNvPr id="76" name="Google Shape;76;g3e67f79d708_0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sam</a:t>
            </a:r>
            <a:endParaRPr/>
          </a:p>
        </p:txBody>
      </p:sp>
      <p:sp>
        <p:nvSpPr>
          <p:cNvPr id="86" name="Google Shape;8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sam</a:t>
            </a:r>
            <a:endParaRPr/>
          </a:p>
        </p:txBody>
      </p:sp>
      <p:sp>
        <p:nvSpPr>
          <p:cNvPr id="97" name="Google Shape;9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jess</a:t>
            </a:r>
            <a:endParaRPr/>
          </a:p>
        </p:txBody>
      </p:sp>
      <p:sp>
        <p:nvSpPr>
          <p:cNvPr id="125" name="Google Shape;12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sam</a:t>
            </a:r>
            <a:endParaRPr/>
          </a:p>
        </p:txBody>
      </p:sp>
      <p:sp>
        <p:nvSpPr>
          <p:cNvPr id="135" name="Google Shape;13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jess</a:t>
            </a:r>
            <a:endParaRPr/>
          </a:p>
        </p:txBody>
      </p:sp>
      <p:sp>
        <p:nvSpPr>
          <p:cNvPr id="158" name="Google Shape;15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xavi</a:t>
            </a:r>
            <a:endParaRPr/>
          </a:p>
        </p:txBody>
      </p:sp>
      <p:sp>
        <p:nvSpPr>
          <p:cNvPr id="192" name="Google Shape;19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xavi</a:t>
            </a:r>
            <a:endParaRPr/>
          </a:p>
        </p:txBody>
      </p:sp>
      <p:sp>
        <p:nvSpPr>
          <p:cNvPr id="203" name="Google Shape;20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e6f0dbbbb6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g3e6f0dbbbb6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jess</a:t>
            </a:r>
            <a:endParaRPr/>
          </a:p>
        </p:txBody>
      </p:sp>
      <p:sp>
        <p:nvSpPr>
          <p:cNvPr id="215" name="Google Shape;215;g3e6f0dbbbb6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e6f0dbbbb6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g3e6f0dbbbb6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jess</a:t>
            </a:r>
            <a:endParaRPr/>
          </a:p>
        </p:txBody>
      </p:sp>
      <p:sp>
        <p:nvSpPr>
          <p:cNvPr id="227" name="Google Shape;227;g3e6f0dbbbb6_0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e7aa56e55a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g3e7aa56e55a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jess</a:t>
            </a:r>
            <a:endParaRPr/>
          </a:p>
        </p:txBody>
      </p:sp>
      <p:sp>
        <p:nvSpPr>
          <p:cNvPr id="239" name="Google Shape;239;g3e7aa56e55a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e6f0dbbbb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g3e6f0dbbbb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sam</a:t>
            </a:r>
            <a:endParaRPr/>
          </a:p>
        </p:txBody>
      </p:sp>
      <p:sp>
        <p:nvSpPr>
          <p:cNvPr id="251" name="Google Shape;251;g3e6f0dbbbb6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sam</a:t>
            </a:r>
            <a:endParaRPr/>
          </a:p>
        </p:txBody>
      </p:sp>
      <p:sp>
        <p:nvSpPr>
          <p:cNvPr id="263" name="Google Shape;26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sam</a:t>
            </a:r>
            <a:endParaRPr/>
          </a:p>
        </p:txBody>
      </p:sp>
      <p:sp>
        <p:nvSpPr>
          <p:cNvPr id="274" name="Google Shape;27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jess</a:t>
            </a:r>
            <a:endParaRPr/>
          </a:p>
        </p:txBody>
      </p:sp>
      <p:sp>
        <p:nvSpPr>
          <p:cNvPr id="293" name="Google Shape;293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xavi</a:t>
            </a:r>
            <a:endParaRPr/>
          </a:p>
        </p:txBody>
      </p:sp>
      <p:sp>
        <p:nvSpPr>
          <p:cNvPr id="305" name="Google Shape;305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1.xml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2.xml"/><Relationship Id="rId4" Type="http://schemas.openxmlformats.org/officeDocument/2006/relationships/image" Target="../media/image10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omments" Target="../comments/comment3.xml"/><Relationship Id="rId4" Type="http://schemas.openxmlformats.org/officeDocument/2006/relationships/image" Target="../media/image10.png"/><Relationship Id="rId10" Type="http://schemas.openxmlformats.org/officeDocument/2006/relationships/image" Target="../media/image15.png"/><Relationship Id="rId9" Type="http://schemas.openxmlformats.org/officeDocument/2006/relationships/image" Target="../media/image1.png"/><Relationship Id="rId5" Type="http://schemas.openxmlformats.org/officeDocument/2006/relationships/image" Target="../media/image16.png"/><Relationship Id="rId6" Type="http://schemas.openxmlformats.org/officeDocument/2006/relationships/image" Target="../media/image7.png"/><Relationship Id="rId7" Type="http://schemas.openxmlformats.org/officeDocument/2006/relationships/image" Target="../media/image4.png"/><Relationship Id="rId8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38.png"/><Relationship Id="rId10" Type="http://schemas.openxmlformats.org/officeDocument/2006/relationships/image" Target="../media/image28.png"/><Relationship Id="rId13" Type="http://schemas.openxmlformats.org/officeDocument/2006/relationships/image" Target="../media/image20.png"/><Relationship Id="rId1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22.png"/><Relationship Id="rId9" Type="http://schemas.openxmlformats.org/officeDocument/2006/relationships/image" Target="../media/image29.png"/><Relationship Id="rId5" Type="http://schemas.openxmlformats.org/officeDocument/2006/relationships/image" Target="../media/image7.png"/><Relationship Id="rId6" Type="http://schemas.openxmlformats.org/officeDocument/2006/relationships/image" Target="../media/image23.png"/><Relationship Id="rId7" Type="http://schemas.openxmlformats.org/officeDocument/2006/relationships/image" Target="../media/image14.png"/><Relationship Id="rId8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comments" Target="../comments/comment4.xml"/><Relationship Id="rId4" Type="http://schemas.openxmlformats.org/officeDocument/2006/relationships/image" Target="../media/image10.png"/><Relationship Id="rId5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43.png"/><Relationship Id="rId5" Type="http://schemas.openxmlformats.org/officeDocument/2006/relationships/image" Target="../media/image2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comments" Target="../comments/comment5.xml"/><Relationship Id="rId4" Type="http://schemas.openxmlformats.org/officeDocument/2006/relationships/image" Target="../media/image10.png"/><Relationship Id="rId5" Type="http://schemas.openxmlformats.org/officeDocument/2006/relationships/image" Target="../media/image2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comments" Target="../comments/comment6.xml"/><Relationship Id="rId4" Type="http://schemas.openxmlformats.org/officeDocument/2006/relationships/image" Target="../media/image10.png"/><Relationship Id="rId5" Type="http://schemas.openxmlformats.org/officeDocument/2006/relationships/image" Target="../media/image3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image" Target="../media/image3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comments" Target="../comments/comment7.xml"/><Relationship Id="rId4" Type="http://schemas.openxmlformats.org/officeDocument/2006/relationships/image" Target="../media/image10.png"/><Relationship Id="rId5" Type="http://schemas.openxmlformats.org/officeDocument/2006/relationships/image" Target="../media/image3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comments" Target="../comments/comment8.xml"/><Relationship Id="rId4" Type="http://schemas.openxmlformats.org/officeDocument/2006/relationships/image" Target="../media/image10.png"/><Relationship Id="rId5" Type="http://schemas.openxmlformats.org/officeDocument/2006/relationships/image" Target="../media/image4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Relationship Id="rId4" Type="http://schemas.openxmlformats.org/officeDocument/2006/relationships/image" Target="../media/image39.png"/><Relationship Id="rId5" Type="http://schemas.openxmlformats.org/officeDocument/2006/relationships/image" Target="../media/image33.png"/><Relationship Id="rId6" Type="http://schemas.openxmlformats.org/officeDocument/2006/relationships/image" Target="../media/image3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Relationship Id="rId4" Type="http://schemas.openxmlformats.org/officeDocument/2006/relationships/image" Target="../media/image4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Relationship Id="rId4" Type="http://schemas.openxmlformats.org/officeDocument/2006/relationships/image" Target="../media/image36.png"/><Relationship Id="rId5" Type="http://schemas.openxmlformats.org/officeDocument/2006/relationships/image" Target="../media/image2.png"/><Relationship Id="rId6" Type="http://schemas.openxmlformats.org/officeDocument/2006/relationships/image" Target="../media/image35.png"/><Relationship Id="rId7" Type="http://schemas.openxmlformats.org/officeDocument/2006/relationships/image" Target="../media/image4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person looking at a branching path, with one path representing traditional work and the other representing AI-driven work." id="17" name="Google Shape;17;p3"/>
          <p:cNvPicPr preferRelativeResize="0"/>
          <p:nvPr/>
        </p:nvPicPr>
        <p:blipFill rotWithShape="1">
          <a:blip r:embed="rId4">
            <a:alphaModFix/>
          </a:blip>
          <a:srcRect b="30319" l="0" r="0" t="30319"/>
          <a:stretch/>
        </p:blipFill>
        <p:spPr>
          <a:xfrm>
            <a:off x="-12" y="0"/>
            <a:ext cx="12192001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2417564" y="2271018"/>
            <a:ext cx="7356872" cy="14454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64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5344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Has AI Affected</a:t>
            </a:r>
            <a:br>
              <a:rPr i="0" lang="en-US" sz="5344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5344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Unemployment?</a:t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9" name="Google Shape;19;p3"/>
          <p:cNvCxnSpPr/>
          <p:nvPr/>
        </p:nvCxnSpPr>
        <p:spPr>
          <a:xfrm>
            <a:off x="4812497" y="3966766"/>
            <a:ext cx="2566975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2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" name="Google Shape;20;p3"/>
          <p:cNvSpPr/>
          <p:nvPr/>
        </p:nvSpPr>
        <p:spPr>
          <a:xfrm>
            <a:off x="723900" y="4285655"/>
            <a:ext cx="10744200" cy="234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20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Considerations: Job Displacement, Creation, Skills Gap, and Productivity Gains.</a:t>
            </a:r>
            <a:endParaRPr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d63ef62.png" id="26" name="Google Shape;2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4"/>
          <p:cNvSpPr/>
          <p:nvPr/>
        </p:nvSpPr>
        <p:spPr>
          <a:xfrm>
            <a:off x="428625" y="402729"/>
            <a:ext cx="11334750" cy="4818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64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563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Meet the Team</a:t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476250" y="3491975"/>
            <a:ext cx="3619500" cy="1271700"/>
          </a:xfrm>
          <a:prstGeom prst="rect">
            <a:avLst/>
          </a:prstGeom>
          <a:solidFill>
            <a:srgbClr val="B9D5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762000" y="4002980"/>
            <a:ext cx="3143250" cy="2496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60" u="none" cap="none" strike="noStrike">
                <a:solidFill>
                  <a:srgbClr val="0710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Xavier</a:t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762000" y="4335165"/>
            <a:ext cx="3143250" cy="2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Collection and Analysis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1928813" y="3157538"/>
            <a:ext cx="714375" cy="714375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9BC39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-15872c1e.png" id="32" name="Google Shape;3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06011" y="3334737"/>
            <a:ext cx="361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/>
          <p:nvPr/>
        </p:nvSpPr>
        <p:spPr>
          <a:xfrm>
            <a:off x="4286250" y="3514725"/>
            <a:ext cx="3619500" cy="1271588"/>
          </a:xfrm>
          <a:prstGeom prst="rect">
            <a:avLst/>
          </a:prstGeom>
          <a:solidFill>
            <a:srgbClr val="F66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572000" y="4002980"/>
            <a:ext cx="3143250" cy="2496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60" u="none" cap="none" strike="noStrike">
                <a:solidFill>
                  <a:srgbClr val="0710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Jessica</a:t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4572000" y="4335165"/>
            <a:ext cx="3143250" cy="2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Collection a</a:t>
            </a: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nd Analysis</a:t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5738813" y="3157538"/>
            <a:ext cx="714375" cy="714375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E74C0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-5077495e.png" id="37" name="Google Shape;37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41126" y="3380779"/>
            <a:ext cx="3048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/>
          <p:nvPr/>
        </p:nvSpPr>
        <p:spPr>
          <a:xfrm>
            <a:off x="8096250" y="3514725"/>
            <a:ext cx="3619500" cy="1271588"/>
          </a:xfrm>
          <a:prstGeom prst="rect">
            <a:avLst/>
          </a:prstGeom>
          <a:solidFill>
            <a:srgbClr val="F3AE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8382000" y="4002980"/>
            <a:ext cx="31434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60" u="none" cap="none" strike="noStrike">
                <a:solidFill>
                  <a:srgbClr val="0710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Samandar</a:t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8382000" y="4335165"/>
            <a:ext cx="3143250" cy="2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Cleaning &amp; Presentation</a:t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9548813" y="3157538"/>
            <a:ext cx="714375" cy="714375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E9990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4739f0a2.png" id="42" name="Google Shape;42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42754" y="3355666"/>
            <a:ext cx="333375" cy="3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d63ef62.png" id="48" name="Google Shape;4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5"/>
          <p:cNvSpPr/>
          <p:nvPr/>
        </p:nvSpPr>
        <p:spPr>
          <a:xfrm>
            <a:off x="428625" y="402729"/>
            <a:ext cx="11334750" cy="4818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64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563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Inspired This Project</a:t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476250" y="1562100"/>
            <a:ext cx="4476750" cy="481965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stylized robot hand and a human hand reaching towards each other." id="51" name="Google Shape;51;p5"/>
          <p:cNvPicPr preferRelativeResize="0"/>
          <p:nvPr/>
        </p:nvPicPr>
        <p:blipFill rotWithShape="1">
          <a:blip r:embed="rId4">
            <a:alphaModFix/>
          </a:blip>
          <a:srcRect b="12332" l="0" r="0" t="12332"/>
          <a:stretch/>
        </p:blipFill>
        <p:spPr>
          <a:xfrm>
            <a:off x="476250" y="1562100"/>
            <a:ext cx="4476900" cy="4819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2" name="Google Shape;52;p5"/>
          <p:cNvSpPr/>
          <p:nvPr/>
        </p:nvSpPr>
        <p:spPr>
          <a:xfrm>
            <a:off x="5373225" y="1562105"/>
            <a:ext cx="6588300" cy="27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73050" lvl="0" marL="241300" marR="0" rtl="0" algn="l">
              <a:lnSpc>
                <a:spcPct val="126025"/>
              </a:lnSpc>
              <a:spcBef>
                <a:spcPts val="0"/>
              </a:spcBef>
              <a:spcAft>
                <a:spcPts val="0"/>
              </a:spcAft>
              <a:buClr>
                <a:srgbClr val="F5F6F2"/>
              </a:buClr>
              <a:buSzPts val="2060"/>
              <a:buFont typeface="Times New Roman"/>
              <a:buChar char="•"/>
            </a:pPr>
            <a:r>
              <a:rPr i="0" lang="en-US" sz="2060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Integration in Workplaces</a:t>
            </a:r>
            <a:endParaRPr i="0" sz="2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889000" marR="0" rtl="0" algn="l">
              <a:lnSpc>
                <a:spcPct val="140000"/>
              </a:lnSpc>
              <a:spcBef>
                <a:spcPts val="49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Space Mono"/>
              <a:buNone/>
            </a:pPr>
            <a:r>
              <a:rPr i="0" lang="en-US" sz="1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increasing adoption of Artificial Intelligence (AI) across</a:t>
            </a:r>
            <a:br>
              <a:rPr i="0" lang="en-US" sz="1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various professional environments.</a:t>
            </a:r>
            <a:endParaRPr i="0" sz="2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50" lvl="0" marL="241300" marR="0" rtl="0" algn="l">
              <a:lnSpc>
                <a:spcPct val="126025"/>
              </a:lnSpc>
              <a:spcBef>
                <a:spcPts val="2093"/>
              </a:spcBef>
              <a:spcAft>
                <a:spcPts val="0"/>
              </a:spcAft>
              <a:buClr>
                <a:srgbClr val="F5F6F2"/>
              </a:buClr>
              <a:buSzPts val="2060"/>
              <a:buFont typeface="Times New Roman"/>
              <a:buChar char="•"/>
            </a:pPr>
            <a:r>
              <a:rPr i="0" lang="en-US" sz="2060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Job Displacement Concerns</a:t>
            </a:r>
            <a:endParaRPr i="0" sz="2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889000" marR="0" rtl="0" algn="l">
              <a:lnSpc>
                <a:spcPct val="140000"/>
              </a:lnSpc>
              <a:spcBef>
                <a:spcPts val="49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Space Mono"/>
              <a:buNone/>
            </a:pPr>
            <a:r>
              <a:rPr i="0" lang="en-US" sz="1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Growing anxieties about the potential for AI to replace human</a:t>
            </a:r>
            <a:br>
              <a:rPr i="0" lang="en-US" sz="1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jobs.</a:t>
            </a:r>
            <a:endParaRPr i="0" sz="2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50" lvl="0" marL="241300" marR="0" rtl="0" algn="l">
              <a:lnSpc>
                <a:spcPct val="126025"/>
              </a:lnSpc>
              <a:spcBef>
                <a:spcPts val="2093"/>
              </a:spcBef>
              <a:spcAft>
                <a:spcPts val="0"/>
              </a:spcAft>
              <a:buClr>
                <a:srgbClr val="F5F6F2"/>
              </a:buClr>
              <a:buSzPts val="2060"/>
              <a:buFont typeface="Times New Roman"/>
              <a:buChar char="•"/>
            </a:pPr>
            <a:r>
              <a:rPr i="0" lang="en-US" sz="2060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Empirical Impact Analysis</a:t>
            </a:r>
            <a:endParaRPr i="0" sz="2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889000" marR="0" rtl="0" algn="l">
              <a:lnSpc>
                <a:spcPct val="140000"/>
              </a:lnSpc>
              <a:spcBef>
                <a:spcPts val="49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Space Mono"/>
              <a:buNone/>
            </a:pPr>
            <a:r>
              <a:rPr i="0" lang="en-US" sz="1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drive to move beyond assumptions and scientifically assess AI's</a:t>
            </a:r>
            <a:br>
              <a:rPr i="0" lang="en-US" sz="1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actual effects on employment.</a:t>
            </a:r>
            <a:endParaRPr i="0" sz="2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d63ef62.png" id="58" name="Google Shape;5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6"/>
          <p:cNvSpPr/>
          <p:nvPr/>
        </p:nvSpPr>
        <p:spPr>
          <a:xfrm>
            <a:off x="428625" y="402729"/>
            <a:ext cx="11334750" cy="4818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64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563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Presentation Objectives</a:t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476250" y="1562100"/>
            <a:ext cx="4476750" cy="481965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stylized graphic of a person silhouette merging with abstract AI code" id="61" name="Google Shape;61;p6"/>
          <p:cNvPicPr preferRelativeResize="0"/>
          <p:nvPr/>
        </p:nvPicPr>
        <p:blipFill rotWithShape="1">
          <a:blip r:embed="rId5">
            <a:alphaModFix/>
          </a:blip>
          <a:srcRect b="12154" l="0" r="0" t="12154"/>
          <a:stretch/>
        </p:blipFill>
        <p:spPr>
          <a:xfrm>
            <a:off x="706536" y="1562100"/>
            <a:ext cx="4476600" cy="4819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2" name="Google Shape;62;p6"/>
          <p:cNvSpPr/>
          <p:nvPr/>
        </p:nvSpPr>
        <p:spPr>
          <a:xfrm>
            <a:off x="5361675" y="1550702"/>
            <a:ext cx="6401700" cy="37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60350" lvl="0" marL="241300" marR="0" rtl="0" algn="l">
              <a:lnSpc>
                <a:spcPct val="126025"/>
              </a:lnSpc>
              <a:spcBef>
                <a:spcPts val="0"/>
              </a:spcBef>
              <a:spcAft>
                <a:spcPts val="0"/>
              </a:spcAft>
              <a:buClr>
                <a:srgbClr val="F5F6F2"/>
              </a:buClr>
              <a:buSzPts val="1860"/>
              <a:buFont typeface="Times New Roman"/>
              <a:buChar char="•"/>
            </a:pPr>
            <a:r>
              <a:rPr i="0" lang="en-US" sz="1860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Employment Comparison</a:t>
            </a:r>
            <a:endParaRPr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889000" marR="0" rtl="0" algn="l">
              <a:lnSpc>
                <a:spcPct val="140000"/>
              </a:lnSpc>
              <a:spcBef>
                <a:spcPts val="49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Space Mono"/>
              <a:buNone/>
            </a:pPr>
            <a:r>
              <a:rPr i="0" lang="en-US" sz="15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 employment </a:t>
            </a:r>
            <a:r>
              <a:rPr lang="en-US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trends issued from the </a:t>
            </a:r>
            <a:r>
              <a:rPr lang="en-US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Bureau</a:t>
            </a:r>
            <a:r>
              <a:rPr lang="en-US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Labor Statistics to that reported from </a:t>
            </a:r>
            <a:r>
              <a:rPr lang="en-US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companies spanning from</a:t>
            </a:r>
            <a:r>
              <a:rPr i="0" lang="en-US" sz="15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2014 to 2024.</a:t>
            </a:r>
            <a:endParaRPr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0350" lvl="0" marL="241300" marR="0" rtl="0" algn="l">
              <a:lnSpc>
                <a:spcPct val="126025"/>
              </a:lnSpc>
              <a:spcBef>
                <a:spcPts val="2093"/>
              </a:spcBef>
              <a:spcAft>
                <a:spcPts val="0"/>
              </a:spcAft>
              <a:buClr>
                <a:srgbClr val="F5F6F2"/>
              </a:buClr>
              <a:buSzPts val="1860"/>
              <a:buFont typeface="Times New Roman"/>
              <a:buChar char="•"/>
            </a:pPr>
            <a:r>
              <a:rPr i="0" lang="en-US" sz="1860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Job Trend Analysis</a:t>
            </a:r>
            <a:endParaRPr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889000" marR="0" rtl="0" algn="l">
              <a:lnSpc>
                <a:spcPct val="140000"/>
              </a:lnSpc>
              <a:spcBef>
                <a:spcPts val="49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Space Mono"/>
              <a:buNone/>
            </a:pPr>
            <a:r>
              <a:rPr i="0" lang="en-US" sz="15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 emerging job market </a:t>
            </a:r>
            <a:r>
              <a:rPr i="0" lang="en-US" sz="15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trends</a:t>
            </a:r>
            <a:r>
              <a:rPr i="0" lang="en-US" sz="15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0350" lvl="0" marL="241300" marR="0" rtl="0" algn="l">
              <a:lnSpc>
                <a:spcPct val="126025"/>
              </a:lnSpc>
              <a:spcBef>
                <a:spcPts val="2093"/>
              </a:spcBef>
              <a:spcAft>
                <a:spcPts val="0"/>
              </a:spcAft>
              <a:buClr>
                <a:srgbClr val="F5F6F2"/>
              </a:buClr>
              <a:buSzPts val="1860"/>
              <a:buFont typeface="Times New Roman"/>
              <a:buChar char="•"/>
            </a:pPr>
            <a:r>
              <a:rPr i="0" lang="en-US" sz="1860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Impact Study</a:t>
            </a:r>
            <a:endParaRPr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889000" marR="0" rtl="0" algn="l">
              <a:lnSpc>
                <a:spcPct val="140000"/>
              </a:lnSpc>
              <a:spcBef>
                <a:spcPts val="49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Space Mono"/>
              <a:buNone/>
            </a:pPr>
            <a:r>
              <a:rPr lang="en-US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i="0" lang="en-US" sz="15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 impact of Artificial Intelligence on employment.</a:t>
            </a:r>
            <a:endParaRPr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0350" lvl="0" marL="241300" marR="0" rtl="0" algn="l">
              <a:lnSpc>
                <a:spcPct val="126025"/>
              </a:lnSpc>
              <a:spcBef>
                <a:spcPts val="2093"/>
              </a:spcBef>
              <a:spcAft>
                <a:spcPts val="0"/>
              </a:spcAft>
              <a:buClr>
                <a:srgbClr val="F5F6F2"/>
              </a:buClr>
              <a:buSzPts val="1860"/>
              <a:buFont typeface="Times New Roman"/>
              <a:buChar char="•"/>
            </a:pPr>
            <a:r>
              <a:rPr i="0" lang="en-US" sz="1860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 Job Changes</a:t>
            </a:r>
            <a:endParaRPr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889000" marR="0" rtl="0" algn="l">
              <a:lnSpc>
                <a:spcPct val="140000"/>
              </a:lnSpc>
              <a:spcBef>
                <a:spcPts val="49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Space Mono"/>
              <a:buNone/>
            </a:pPr>
            <a:r>
              <a:rPr i="0" lang="en-US" sz="15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 the nature and extent of changes in the job market.</a:t>
            </a:r>
            <a:endParaRPr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7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A robot arm and a human hand working together on a computer keyboard" id="69" name="Google Shape;69;p7"/>
          <p:cNvPicPr preferRelativeResize="0"/>
          <p:nvPr/>
        </p:nvPicPr>
        <p:blipFill rotWithShape="1">
          <a:blip r:embed="rId3">
            <a:alphaModFix/>
          </a:blip>
          <a:srcRect b="10638" l="0" r="0" t="10638"/>
          <a:stretch/>
        </p:blipFill>
        <p:spPr>
          <a:xfrm>
            <a:off x="7640425" y="0"/>
            <a:ext cx="4551574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7"/>
          <p:cNvSpPr/>
          <p:nvPr/>
        </p:nvSpPr>
        <p:spPr>
          <a:xfrm>
            <a:off x="476250" y="523379"/>
            <a:ext cx="5238750" cy="1823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40" u="none" cap="none" strike="noStrike">
                <a:solidFill>
                  <a:srgbClr val="B9D5B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AI's Impact on Work and Learning</a:t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" name="Google Shape;71;p7"/>
          <p:cNvSpPr/>
          <p:nvPr/>
        </p:nvSpPr>
        <p:spPr>
          <a:xfrm>
            <a:off x="476250" y="960150"/>
            <a:ext cx="66450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5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384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</a:t>
            </a:r>
            <a:r>
              <a:rPr lang="en-US" sz="3384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0" lang="en-US" sz="3384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Significance of AI </a:t>
            </a:r>
            <a:r>
              <a:rPr lang="en-US" sz="3384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The Workforce</a:t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476250" y="2610850"/>
            <a:ext cx="6645000" cy="366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457200" marR="0" rtl="0" algn="l">
              <a:lnSpc>
                <a:spcPct val="125996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b="1" i="0" lang="en-US" sz="1800" u="none" cap="none" strike="noStrike">
                <a:solidFill>
                  <a:srgbClr val="B9D5B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Transforming Workplaces:</a:t>
            </a:r>
            <a:r>
              <a:rPr i="0" lang="en-US" sz="1800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AI is automating basic tasks,</a:t>
            </a:r>
            <a:br>
              <a:rPr i="0" lang="en-US" sz="1800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800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enhancing productivity, and creating new avenues</a:t>
            </a:r>
            <a:br>
              <a:rPr i="0" lang="en-US" sz="1800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800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innovation across industries.</a:t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25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25996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b="1" i="0" lang="en-US" sz="1800" u="none" cap="none" strike="noStrike">
                <a:solidFill>
                  <a:srgbClr val="B9D5B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Strategic Advantage for Companies:</a:t>
            </a:r>
            <a:r>
              <a:rPr i="0" lang="en-US" sz="1800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AI enables data-</a:t>
            </a:r>
            <a:br>
              <a:rPr i="0" lang="en-US" sz="1800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800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driven decision</a:t>
            </a:r>
            <a:r>
              <a:rPr lang="en-US" sz="1800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0" lang="en-US" sz="1800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making, optimizes operations, and</a:t>
            </a:r>
            <a:br>
              <a:rPr i="0" lang="en-US" sz="1800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800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drives strategic planning for</a:t>
            </a:r>
            <a:r>
              <a:rPr lang="en-US" sz="1800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evolving job trends</a:t>
            </a:r>
            <a:r>
              <a:rPr i="0" lang="en-US" sz="1800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i="0" sz="1800" u="none" cap="none" strike="noStrike">
              <a:solidFill>
                <a:srgbClr val="F5F6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25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5F6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25996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b="1" i="0" lang="en-US" sz="1800" u="none" cap="none" strike="noStrike">
                <a:solidFill>
                  <a:srgbClr val="B9D5B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Demonstrating Real-World Impact:</a:t>
            </a:r>
            <a:r>
              <a:rPr i="0" lang="en-US" sz="1800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From healthcare</a:t>
            </a:r>
            <a:br>
              <a:rPr i="0" lang="en-US" sz="1800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800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advancements to </a:t>
            </a:r>
            <a:r>
              <a:rPr lang="en-US" sz="1800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classroom aid</a:t>
            </a:r>
            <a:r>
              <a:rPr i="0" lang="en-US" sz="1800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AI's</a:t>
            </a:r>
            <a:br>
              <a:rPr i="0" lang="en-US" sz="1800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800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benefits are increasing</a:t>
            </a:r>
            <a:r>
              <a:rPr lang="en-US" sz="1800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i="0" lang="en-US" sz="1800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driving</a:t>
            </a:r>
            <a:br>
              <a:rPr i="0" lang="en-US" sz="1800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800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progress </a:t>
            </a:r>
            <a:r>
              <a:rPr lang="en-US" sz="1800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</a:t>
            </a:r>
            <a:r>
              <a:rPr i="0" lang="en-US" sz="1800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solving complex global challenges.</a:t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1575" y="1832825"/>
            <a:ext cx="6420600" cy="4026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9" name="Google Shape;79;p8"/>
          <p:cNvSpPr txBox="1"/>
          <p:nvPr/>
        </p:nvSpPr>
        <p:spPr>
          <a:xfrm>
            <a:off x="248225" y="2233100"/>
            <a:ext cx="4519800" cy="34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Within organizations implementing AI, 65% of employees say </a:t>
            </a: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artificial</a:t>
            </a: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intelligence has improved their productivity and efficiency, regardless of how often they </a:t>
            </a: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personally</a:t>
            </a: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 AI. 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16%  say the effect has been positive. 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 1% say AI has a negative impact on their work. 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8"/>
          <p:cNvSpPr txBox="1"/>
          <p:nvPr/>
        </p:nvSpPr>
        <p:spPr>
          <a:xfrm>
            <a:off x="829350" y="496175"/>
            <a:ext cx="105333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Users Report Productivity Gains but </a:t>
            </a:r>
            <a:endParaRPr sz="3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Rarely Transformational Changes to Work</a:t>
            </a:r>
            <a:endParaRPr sz="3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3d63ef62.png" id="81" name="Google Shape;8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8"/>
          <p:cNvSpPr/>
          <p:nvPr/>
        </p:nvSpPr>
        <p:spPr>
          <a:xfrm>
            <a:off x="0" y="6472625"/>
            <a:ext cx="12192000" cy="385500"/>
          </a:xfrm>
          <a:prstGeom prst="rect">
            <a:avLst/>
          </a:prstGeom>
          <a:solidFill>
            <a:srgbClr val="1436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d63ef62.png" id="88" name="Google Shape;8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9"/>
          <p:cNvSpPr/>
          <p:nvPr/>
        </p:nvSpPr>
        <p:spPr>
          <a:xfrm>
            <a:off x="428625" y="402729"/>
            <a:ext cx="11334750" cy="4818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64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63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Selected Job Sectors Description</a:t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9"/>
          <p:cNvSpPr/>
          <p:nvPr/>
        </p:nvSpPr>
        <p:spPr>
          <a:xfrm>
            <a:off x="476250" y="1562100"/>
            <a:ext cx="4476750" cy="481965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collage of icons representing technology, business, education, construction, medical, and administrative fields." id="91" name="Google Shape;91;p9"/>
          <p:cNvPicPr preferRelativeResize="0"/>
          <p:nvPr/>
        </p:nvPicPr>
        <p:blipFill rotWithShape="1">
          <a:blip r:embed="rId4">
            <a:alphaModFix/>
          </a:blip>
          <a:srcRect b="12284" l="0" r="0" t="12284"/>
          <a:stretch/>
        </p:blipFill>
        <p:spPr>
          <a:xfrm>
            <a:off x="476250" y="1562100"/>
            <a:ext cx="3787500" cy="4077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2" name="Google Shape;92;p9"/>
          <p:cNvSpPr/>
          <p:nvPr/>
        </p:nvSpPr>
        <p:spPr>
          <a:xfrm>
            <a:off x="4528200" y="1692825"/>
            <a:ext cx="3639000" cy="48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•"/>
            </a:pPr>
            <a:r>
              <a:rPr b="1"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Publishers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889000" marR="0" rtl="0" algn="l">
              <a:lnSpc>
                <a:spcPct val="140000"/>
              </a:lnSpc>
              <a:spcBef>
                <a:spcPts val="49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Space Mono"/>
              <a:buNone/>
            </a:pPr>
            <a:r>
              <a:rPr i="0" lang="en-US" sz="15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Focusing on innovation and</a:t>
            </a:r>
            <a:r>
              <a:rPr lang="en-US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0" lang="en-US" sz="15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transformation.</a:t>
            </a:r>
            <a:endParaRPr i="0" sz="15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889000" marR="0" rtl="0" algn="l">
              <a:lnSpc>
                <a:spcPct val="140000"/>
              </a:lnSpc>
              <a:spcBef>
                <a:spcPts val="49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Space Mono"/>
              <a:buNone/>
            </a:pPr>
            <a:r>
              <a:t/>
            </a:r>
            <a:endParaRPr sz="1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•"/>
            </a:pPr>
            <a:r>
              <a:rPr b="1"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Management of Companies and Enterprises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889000" marR="0" rtl="0" algn="l">
              <a:lnSpc>
                <a:spcPct val="140000"/>
              </a:lnSpc>
              <a:spcBef>
                <a:spcPts val="49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Space Mono"/>
              <a:buNone/>
            </a:pPr>
            <a:r>
              <a:rPr i="0" lang="en-US" sz="15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Addressing market trends</a:t>
            </a:r>
            <a:r>
              <a:rPr lang="en-US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0" lang="en-US" sz="15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r>
              <a:rPr lang="en-US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0" lang="en-US" sz="15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strategic growth.</a:t>
            </a:r>
            <a:endParaRPr i="0" sz="15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889000" marR="0" rtl="0" algn="l">
              <a:lnSpc>
                <a:spcPct val="140000"/>
              </a:lnSpc>
              <a:spcBef>
                <a:spcPts val="49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Space Mono"/>
              <a:buNone/>
            </a:pPr>
            <a:r>
              <a:t/>
            </a:r>
            <a:endParaRPr sz="1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•"/>
            </a:pPr>
            <a:r>
              <a:rPr b="1"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Elementary and Secondary Schools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889000" marR="0" rtl="0" algn="l">
              <a:lnSpc>
                <a:spcPct val="140000"/>
              </a:lnSpc>
              <a:spcBef>
                <a:spcPts val="49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Space Mono"/>
              <a:buNone/>
            </a:pPr>
            <a:r>
              <a:rPr i="0" lang="en-US" sz="15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Enhancing learning</a:t>
            </a:r>
            <a:r>
              <a:rPr lang="en-US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i="0" lang="en-US" sz="15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experiences and</a:t>
            </a:r>
            <a:r>
              <a:rPr lang="en-US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0" lang="en-US" sz="15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developing</a:t>
            </a:r>
            <a:r>
              <a:rPr lang="en-US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0" lang="en-US" sz="15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skills.</a:t>
            </a:r>
            <a:endParaRPr i="0" sz="15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9"/>
          <p:cNvSpPr/>
          <p:nvPr/>
        </p:nvSpPr>
        <p:spPr>
          <a:xfrm>
            <a:off x="8763075" y="1692830"/>
            <a:ext cx="3000300" cy="27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56540" lvl="0" marL="241300" marR="0" rtl="0" algn="l">
              <a:lnSpc>
                <a:spcPct val="12602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•"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Construction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889000" marR="0" rtl="0" algn="l">
              <a:lnSpc>
                <a:spcPct val="140000"/>
              </a:lnSpc>
              <a:spcBef>
                <a:spcPts val="49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Space Mono"/>
              <a:buNone/>
            </a:pPr>
            <a:r>
              <a:rPr i="0" lang="en-US" sz="15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Building and developing</a:t>
            </a:r>
            <a:br>
              <a:rPr i="0" lang="en-US" sz="15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5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infrastructure projects.</a:t>
            </a:r>
            <a:endParaRPr i="0" sz="15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889000" marR="0" rtl="0" algn="l">
              <a:lnSpc>
                <a:spcPct val="140000"/>
              </a:lnSpc>
              <a:spcBef>
                <a:spcPts val="49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Space Mono"/>
              <a:buNone/>
            </a:pPr>
            <a:r>
              <a:t/>
            </a:r>
            <a:endParaRPr sz="1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•"/>
            </a:pPr>
            <a:r>
              <a:rPr b="1"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Medical </a:t>
            </a:r>
            <a:r>
              <a:rPr b="1"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Equipment &amp; Supplies Manufacturing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889000" marR="0" rtl="0" algn="l">
              <a:lnSpc>
                <a:spcPct val="140000"/>
              </a:lnSpc>
              <a:spcBef>
                <a:spcPts val="49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Space Mono"/>
              <a:buNone/>
            </a:pPr>
            <a:r>
              <a:rPr i="0" lang="en-US" sz="15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Advancing healthcare and</a:t>
            </a:r>
            <a:br>
              <a:rPr i="0" lang="en-US" sz="15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5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wellness solutions.</a:t>
            </a:r>
            <a:endParaRPr i="0" sz="15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889000" marR="0" rtl="0" algn="l">
              <a:lnSpc>
                <a:spcPct val="140000"/>
              </a:lnSpc>
              <a:spcBef>
                <a:spcPts val="49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Space Mono"/>
              <a:buNone/>
            </a:pPr>
            <a:r>
              <a:t/>
            </a:r>
            <a:endParaRPr sz="1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•"/>
            </a:pPr>
            <a:r>
              <a:rPr b="1"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Administrative and Support Services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889000" marR="0" rtl="0" algn="l">
              <a:lnSpc>
                <a:spcPct val="140000"/>
              </a:lnSpc>
              <a:spcBef>
                <a:spcPts val="49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Space Mono"/>
              <a:buNone/>
            </a:pPr>
            <a:r>
              <a:rPr i="0" lang="en-US" sz="15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Optimizing operations and</a:t>
            </a:r>
            <a:br>
              <a:rPr i="0" lang="en-US" sz="15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5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management processes.</a:t>
            </a:r>
            <a:endParaRPr i="0" sz="15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d63ef62.png" id="99" name="Google Shape;9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0"/>
          <p:cNvSpPr/>
          <p:nvPr/>
        </p:nvSpPr>
        <p:spPr>
          <a:xfrm>
            <a:off x="428625" y="402729"/>
            <a:ext cx="11334750" cy="4818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64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5000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Roadmap</a:t>
            </a:r>
            <a:endParaRPr i="0" sz="5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10"/>
          <p:cNvSpPr/>
          <p:nvPr/>
        </p:nvSpPr>
        <p:spPr>
          <a:xfrm>
            <a:off x="476250" y="1298484"/>
            <a:ext cx="1133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2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phases of our data analysis project</a:t>
            </a:r>
            <a:endParaRPr i="0" sz="2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14ec64e2.png" id="102" name="Google Shape;102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" y="2993628"/>
            <a:ext cx="2952750" cy="119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0"/>
          <p:cNvSpPr/>
          <p:nvPr/>
        </p:nvSpPr>
        <p:spPr>
          <a:xfrm>
            <a:off x="619125" y="3515201"/>
            <a:ext cx="2381250" cy="230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400" u="none" cap="none" strike="noStrike">
                <a:solidFill>
                  <a:srgbClr val="0710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Collect Data</a:t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10"/>
          <p:cNvSpPr/>
          <p:nvPr/>
        </p:nvSpPr>
        <p:spPr>
          <a:xfrm>
            <a:off x="562175" y="4177775"/>
            <a:ext cx="2581200" cy="15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imes New Roman"/>
              <a:buChar char="●"/>
            </a:pPr>
            <a:r>
              <a:rPr lang="en-US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Labor statistics provided by BLS.</a:t>
            </a:r>
            <a:endParaRPr sz="1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imes New Roman"/>
              <a:buChar char="●"/>
            </a:pPr>
            <a:r>
              <a:rPr lang="en-US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largest </a:t>
            </a:r>
            <a:r>
              <a:rPr lang="en-US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publicly</a:t>
            </a:r>
            <a:r>
              <a:rPr lang="en-US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traded companies within the respective industries.</a:t>
            </a:r>
            <a:endParaRPr sz="1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10"/>
          <p:cNvSpPr/>
          <p:nvPr/>
        </p:nvSpPr>
        <p:spPr>
          <a:xfrm>
            <a:off x="1714500" y="2755503"/>
            <a:ext cx="476250" cy="47625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9BC39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-38247d9e.png" id="106" name="Google Shape;106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54957" y="2921075"/>
            <a:ext cx="20002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7c78a2a2.png" id="107" name="Google Shape;107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38500" y="2993628"/>
            <a:ext cx="2952750" cy="119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0"/>
          <p:cNvSpPr/>
          <p:nvPr/>
        </p:nvSpPr>
        <p:spPr>
          <a:xfrm>
            <a:off x="3667125" y="3515201"/>
            <a:ext cx="2095500" cy="230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710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</a:t>
            </a:r>
            <a:r>
              <a:rPr b="0" i="0" lang="en-US" sz="1440" u="none" cap="none" strike="noStrike">
                <a:solidFill>
                  <a:srgbClr val="071023"/>
                </a:solidFill>
                <a:latin typeface="Space Mono"/>
                <a:ea typeface="Space Mono"/>
                <a:cs typeface="Space Mono"/>
                <a:sym typeface="Space Mono"/>
              </a:rPr>
              <a:t> </a:t>
            </a:r>
            <a:r>
              <a:rPr i="0" lang="en-US" sz="2400" u="none" cap="none" strike="noStrike">
                <a:solidFill>
                  <a:srgbClr val="0710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</a:t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10"/>
          <p:cNvSpPr/>
          <p:nvPr/>
        </p:nvSpPr>
        <p:spPr>
          <a:xfrm>
            <a:off x="3181587" y="4255675"/>
            <a:ext cx="25812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Isolating relevant data from BLS data.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10"/>
          <p:cNvSpPr/>
          <p:nvPr/>
        </p:nvSpPr>
        <p:spPr>
          <a:xfrm>
            <a:off x="4476750" y="2755503"/>
            <a:ext cx="476250" cy="47625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7E9D7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-7c8ade5e.png" id="111" name="Google Shape;111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17183" y="2876428"/>
            <a:ext cx="20002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63e4bf62.png" id="112" name="Google Shape;112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000750" y="2993628"/>
            <a:ext cx="2952750" cy="119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0"/>
          <p:cNvSpPr/>
          <p:nvPr/>
        </p:nvSpPr>
        <p:spPr>
          <a:xfrm>
            <a:off x="6429375" y="3515201"/>
            <a:ext cx="2095500" cy="230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400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 Trends</a:t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10"/>
          <p:cNvSpPr/>
          <p:nvPr/>
        </p:nvSpPr>
        <p:spPr>
          <a:xfrm>
            <a:off x="5800975" y="4318475"/>
            <a:ext cx="2952900" cy="10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rPr i="0" lang="en-US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</a:t>
            </a:r>
            <a:r>
              <a:rPr lang="en-US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trends over time as AI’s implementation has </a:t>
            </a:r>
            <a:r>
              <a:rPr lang="en-US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increased.</a:t>
            </a:r>
            <a:r>
              <a:rPr lang="en-US" sz="120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 </a:t>
            </a:r>
            <a:endParaRPr sz="1200">
              <a:solidFill>
                <a:srgbClr val="FFFFFF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15" name="Google Shape;115;p10"/>
          <p:cNvSpPr/>
          <p:nvPr/>
        </p:nvSpPr>
        <p:spPr>
          <a:xfrm>
            <a:off x="7239000" y="2755503"/>
            <a:ext cx="476250" cy="47625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6373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-38247d9e.png" id="116" name="Google Shape;116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79457" y="2921075"/>
            <a:ext cx="20002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-79e8421e.png" id="117" name="Google Shape;117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763000" y="2993628"/>
            <a:ext cx="2952750" cy="119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0"/>
          <p:cNvSpPr/>
          <p:nvPr/>
        </p:nvSpPr>
        <p:spPr>
          <a:xfrm>
            <a:off x="9188002" y="3515201"/>
            <a:ext cx="2102746" cy="230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400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Interpret Results</a:t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10"/>
          <p:cNvSpPr/>
          <p:nvPr/>
        </p:nvSpPr>
        <p:spPr>
          <a:xfrm>
            <a:off x="8692875" y="4318475"/>
            <a:ext cx="2762400" cy="12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Char char="●"/>
            </a:pPr>
            <a:r>
              <a:rPr i="0" lang="en-US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Drawing conclusions and</a:t>
            </a:r>
            <a:br>
              <a:rPr i="0" lang="en-US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correlations between job trends and the rise of AI </a:t>
            </a:r>
            <a:r>
              <a:rPr lang="en-US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</a:t>
            </a:r>
            <a:r>
              <a:rPr lang="en-US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the job </a:t>
            </a:r>
            <a:r>
              <a:rPr lang="en-US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sector</a:t>
            </a:r>
            <a:r>
              <a:rPr lang="en-US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i="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10"/>
          <p:cNvSpPr/>
          <p:nvPr/>
        </p:nvSpPr>
        <p:spPr>
          <a:xfrm>
            <a:off x="10001250" y="2755503"/>
            <a:ext cx="476250" cy="47625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454F4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-38247d9e.png" id="121" name="Google Shape;121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141707" y="2921075"/>
            <a:ext cx="200025" cy="16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d63ef62.png" id="127" name="Google Shape;12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1"/>
          <p:cNvSpPr/>
          <p:nvPr/>
        </p:nvSpPr>
        <p:spPr>
          <a:xfrm>
            <a:off x="428625" y="402729"/>
            <a:ext cx="11334750" cy="4818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64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563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</a:t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11"/>
          <p:cNvSpPr/>
          <p:nvPr/>
        </p:nvSpPr>
        <p:spPr>
          <a:xfrm>
            <a:off x="476250" y="1562100"/>
            <a:ext cx="4476750" cy="481965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person looking at a complex flowchart with missing pieces and question marks" id="130" name="Google Shape;130;p11"/>
          <p:cNvPicPr preferRelativeResize="0"/>
          <p:nvPr/>
        </p:nvPicPr>
        <p:blipFill rotWithShape="1">
          <a:blip r:embed="rId4">
            <a:alphaModFix/>
          </a:blip>
          <a:srcRect b="12332" l="0" r="0" t="12332"/>
          <a:stretch/>
        </p:blipFill>
        <p:spPr>
          <a:xfrm>
            <a:off x="476250" y="1562100"/>
            <a:ext cx="4476900" cy="4819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1" name="Google Shape;131;p11"/>
          <p:cNvSpPr/>
          <p:nvPr/>
        </p:nvSpPr>
        <p:spPr>
          <a:xfrm>
            <a:off x="5335825" y="1562105"/>
            <a:ext cx="6588300" cy="27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79400" lvl="0" marL="241300" marR="0" rtl="0" algn="l">
              <a:lnSpc>
                <a:spcPct val="126025"/>
              </a:lnSpc>
              <a:spcBef>
                <a:spcPts val="0"/>
              </a:spcBef>
              <a:spcAft>
                <a:spcPts val="0"/>
              </a:spcAft>
              <a:buClr>
                <a:srgbClr val="F5F6F2"/>
              </a:buClr>
              <a:buSzPts val="2160"/>
              <a:buFont typeface="Times New Roman"/>
              <a:buChar char="•"/>
            </a:pPr>
            <a:r>
              <a:rPr i="0" lang="en-US" sz="2160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Inconsistent data</a:t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889000" marR="0" rtl="0" algn="l">
              <a:lnSpc>
                <a:spcPct val="140000"/>
              </a:lnSpc>
              <a:spcBef>
                <a:spcPts val="49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Space Mono"/>
              <a:buNone/>
            </a:pPr>
            <a:r>
              <a:rPr i="0" lang="en-US" sz="18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points from </a:t>
            </a:r>
            <a:r>
              <a:rPr lang="en-US"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 sources</a:t>
            </a:r>
            <a:r>
              <a:rPr i="0" lang="en-US" sz="18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frequently do not align or follow a standard format,</a:t>
            </a:r>
            <a:r>
              <a:rPr lang="en-US"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0" lang="en-US" sz="18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making analysis comparison difficult.</a:t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241300" marR="0" rtl="0" algn="l">
              <a:lnSpc>
                <a:spcPct val="126025"/>
              </a:lnSpc>
              <a:spcBef>
                <a:spcPts val="2093"/>
              </a:spcBef>
              <a:spcAft>
                <a:spcPts val="0"/>
              </a:spcAft>
              <a:buClr>
                <a:srgbClr val="F5F6F2"/>
              </a:buClr>
              <a:buSzPts val="2160"/>
              <a:buFont typeface="Times New Roman"/>
              <a:buChar char="•"/>
            </a:pPr>
            <a:r>
              <a:rPr i="0" lang="en-US" sz="2160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Missing AI information</a:t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889000" marR="0" rtl="0" algn="l">
              <a:lnSpc>
                <a:spcPct val="140000"/>
              </a:lnSpc>
              <a:spcBef>
                <a:spcPts val="49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Space Mono"/>
              <a:buNone/>
            </a:pPr>
            <a:r>
              <a:rPr i="0" lang="en-US" sz="18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details regarding Artificial Intelligence components, such as</a:t>
            </a:r>
            <a:br>
              <a:rPr i="0" lang="en-US" sz="18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8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models or capabilities, are often absent</a:t>
            </a:r>
            <a:r>
              <a:rPr lang="en-US"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from reports.</a:t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241300" marR="0" rtl="0" algn="l">
              <a:lnSpc>
                <a:spcPct val="126025"/>
              </a:lnSpc>
              <a:spcBef>
                <a:spcPts val="2093"/>
              </a:spcBef>
              <a:spcAft>
                <a:spcPts val="0"/>
              </a:spcAft>
              <a:buClr>
                <a:srgbClr val="F5F6F2"/>
              </a:buClr>
              <a:buSzPts val="2160"/>
              <a:buFont typeface="Times New Roman"/>
              <a:buChar char="•"/>
            </a:pPr>
            <a:r>
              <a:rPr i="0" lang="en-US" sz="2160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 to link AI to jobs</a:t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889000" marR="0" rtl="0" algn="l">
              <a:lnSpc>
                <a:spcPct val="140000"/>
              </a:lnSpc>
              <a:spcBef>
                <a:spcPts val="49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Space Mono"/>
              <a:buNone/>
            </a:pPr>
            <a:r>
              <a:rPr i="0" lang="en-US" sz="18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Establishing a c</a:t>
            </a:r>
            <a:r>
              <a:rPr lang="en-US"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oncrete</a:t>
            </a:r>
            <a:r>
              <a:rPr i="0" lang="en-US" sz="18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connection between AI applications and</a:t>
            </a:r>
            <a:br>
              <a:rPr i="0" lang="en-US" sz="18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8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specific job roles or requirements proves challenging.</a:t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d63ef62.png" id="137" name="Google Shape;13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2"/>
          <p:cNvSpPr/>
          <p:nvPr/>
        </p:nvSpPr>
        <p:spPr>
          <a:xfrm>
            <a:off x="428625" y="402729"/>
            <a:ext cx="11334750" cy="4818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64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4363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and Tools</a:t>
            </a:r>
            <a:endParaRPr i="0" sz="2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12"/>
          <p:cNvSpPr/>
          <p:nvPr/>
        </p:nvSpPr>
        <p:spPr>
          <a:xfrm>
            <a:off x="988219" y="2094626"/>
            <a:ext cx="1428900" cy="1428900"/>
          </a:xfrm>
          <a:prstGeom prst="ellipse">
            <a:avLst/>
          </a:prstGeom>
          <a:solidFill>
            <a:srgbClr val="B9D5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216a3fe2.png" id="140" name="Google Shape;14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68252" y="2499511"/>
            <a:ext cx="5429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2"/>
          <p:cNvSpPr/>
          <p:nvPr/>
        </p:nvSpPr>
        <p:spPr>
          <a:xfrm>
            <a:off x="568081" y="3882896"/>
            <a:ext cx="23433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40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Excel / Google Sheets</a:t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12"/>
          <p:cNvSpPr/>
          <p:nvPr/>
        </p:nvSpPr>
        <p:spPr>
          <a:xfrm>
            <a:off x="419809" y="4842737"/>
            <a:ext cx="24633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Spreadsheet for</a:t>
            </a:r>
            <a:br>
              <a:rPr i="0" lang="en-US" sz="18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8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organization and</a:t>
            </a:r>
            <a:br>
              <a:rPr i="0" lang="en-US" sz="18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8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analysis.</a:t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12"/>
          <p:cNvSpPr/>
          <p:nvPr/>
        </p:nvSpPr>
        <p:spPr>
          <a:xfrm>
            <a:off x="3917156" y="2094626"/>
            <a:ext cx="1428900" cy="1428900"/>
          </a:xfrm>
          <a:prstGeom prst="ellipse">
            <a:avLst/>
          </a:prstGeom>
          <a:solidFill>
            <a:srgbClr val="F66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-6b90985e.png" id="144" name="Google Shape;144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62723" y="2457315"/>
            <a:ext cx="933450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2"/>
          <p:cNvSpPr/>
          <p:nvPr/>
        </p:nvSpPr>
        <p:spPr>
          <a:xfrm>
            <a:off x="3457131" y="3925358"/>
            <a:ext cx="23433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Google Gemini</a:t>
            </a:r>
            <a:endParaRPr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12"/>
          <p:cNvSpPr/>
          <p:nvPr/>
        </p:nvSpPr>
        <p:spPr>
          <a:xfrm>
            <a:off x="3348746" y="4842737"/>
            <a:ext cx="24633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AI-powered tool for data</a:t>
            </a:r>
            <a:br>
              <a:rPr i="0" lang="en-US" sz="18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 trimming and code </a:t>
            </a:r>
            <a:r>
              <a:rPr lang="en-US"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debugging</a:t>
            </a:r>
            <a:r>
              <a:rPr lang="en-US"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12"/>
          <p:cNvSpPr/>
          <p:nvPr/>
        </p:nvSpPr>
        <p:spPr>
          <a:xfrm>
            <a:off x="6846082" y="2099764"/>
            <a:ext cx="1428900" cy="1428900"/>
          </a:xfrm>
          <a:prstGeom prst="ellipse">
            <a:avLst/>
          </a:prstGeom>
          <a:solidFill>
            <a:srgbClr val="F3AE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2"/>
          <p:cNvSpPr/>
          <p:nvPr/>
        </p:nvSpPr>
        <p:spPr>
          <a:xfrm>
            <a:off x="6299456" y="3925358"/>
            <a:ext cx="24288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Industry Data</a:t>
            </a:r>
            <a:endParaRPr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12"/>
          <p:cNvSpPr/>
          <p:nvPr/>
        </p:nvSpPr>
        <p:spPr>
          <a:xfrm>
            <a:off x="6226767" y="4842737"/>
            <a:ext cx="25650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Relevant datasets specific</a:t>
            </a:r>
            <a:br>
              <a:rPr i="0" lang="en-US" sz="18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8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industry for</a:t>
            </a:r>
            <a:r>
              <a:rPr lang="en-US"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comparison</a:t>
            </a:r>
            <a:r>
              <a:rPr i="0" lang="en-US" sz="18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12"/>
          <p:cNvSpPr/>
          <p:nvPr/>
        </p:nvSpPr>
        <p:spPr>
          <a:xfrm>
            <a:off x="9775031" y="2094626"/>
            <a:ext cx="1428900" cy="1428900"/>
          </a:xfrm>
          <a:prstGeom prst="ellipse">
            <a:avLst/>
          </a:prstGeom>
          <a:solidFill>
            <a:srgbClr val="B9D5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2"/>
          <p:cNvSpPr/>
          <p:nvPr/>
        </p:nvSpPr>
        <p:spPr>
          <a:xfrm>
            <a:off x="9155444" y="3925358"/>
            <a:ext cx="25242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Codex: Cloud Coding Agent</a:t>
            </a:r>
            <a:endParaRPr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12"/>
          <p:cNvSpPr/>
          <p:nvPr/>
        </p:nvSpPr>
        <p:spPr>
          <a:xfrm>
            <a:off x="9104311" y="4842737"/>
            <a:ext cx="2667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 Statistical Analysis on BLS data.</a:t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216a3fe2.png" id="153" name="Google Shape;15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35652" y="2457336"/>
            <a:ext cx="542925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-6b90985e.png" id="154" name="Google Shape;154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24873" y="2457315"/>
            <a:ext cx="933450" cy="78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d63ef62.png" id="160" name="Google Shape;16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3"/>
          <p:cNvSpPr/>
          <p:nvPr/>
        </p:nvSpPr>
        <p:spPr>
          <a:xfrm>
            <a:off x="428625" y="402729"/>
            <a:ext cx="11334750" cy="4818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64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563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13"/>
          <p:cNvSpPr/>
          <p:nvPr/>
        </p:nvSpPr>
        <p:spPr>
          <a:xfrm>
            <a:off x="428625" y="1021159"/>
            <a:ext cx="11334750" cy="234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2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Systematic Approach</a:t>
            </a:r>
            <a:endParaRPr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0ee6c162.png" id="163" name="Google Shape;16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2442865"/>
            <a:ext cx="2409825" cy="119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3"/>
          <p:cNvSpPr/>
          <p:nvPr/>
        </p:nvSpPr>
        <p:spPr>
          <a:xfrm>
            <a:off x="619125" y="2964418"/>
            <a:ext cx="18288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40" u="none" cap="none" strike="noStrike">
                <a:solidFill>
                  <a:srgbClr val="0710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Collect</a:t>
            </a:r>
            <a:endParaRPr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13"/>
          <p:cNvSpPr/>
          <p:nvPr/>
        </p:nvSpPr>
        <p:spPr>
          <a:xfrm>
            <a:off x="762000" y="3767693"/>
            <a:ext cx="1828800" cy="6399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Gathering all</a:t>
            </a:r>
            <a:br>
              <a:rPr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relevant data and</a:t>
            </a:r>
            <a:br>
              <a:rPr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information.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13"/>
          <p:cNvSpPr/>
          <p:nvPr/>
        </p:nvSpPr>
        <p:spPr>
          <a:xfrm>
            <a:off x="1438273" y="2204740"/>
            <a:ext cx="476250" cy="47625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9BC39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-38247d9e.png" id="167" name="Google Shape;16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78729" y="2370311"/>
            <a:ext cx="20002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ec5e8a2.png" id="168" name="Google Shape;168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86045" y="2442865"/>
            <a:ext cx="2400300" cy="119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3"/>
          <p:cNvSpPr/>
          <p:nvPr/>
        </p:nvSpPr>
        <p:spPr>
          <a:xfrm>
            <a:off x="3114675" y="2964418"/>
            <a:ext cx="1543050" cy="2303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0710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</a:t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13"/>
          <p:cNvSpPr/>
          <p:nvPr/>
        </p:nvSpPr>
        <p:spPr>
          <a:xfrm>
            <a:off x="2971800" y="3767693"/>
            <a:ext cx="1852229" cy="10666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Preprocessing and</a:t>
            </a:r>
            <a:br>
              <a:rPr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refining the</a:t>
            </a:r>
            <a:br>
              <a:rPr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collected data for</a:t>
            </a:r>
            <a:br>
              <a:rPr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accuracy and</a:t>
            </a:r>
            <a:br>
              <a:rPr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consistency.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" name="Google Shape;171;p13"/>
          <p:cNvSpPr/>
          <p:nvPr/>
        </p:nvSpPr>
        <p:spPr>
          <a:xfrm>
            <a:off x="3648068" y="2204740"/>
            <a:ext cx="476250" cy="47625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86A57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-7c8ade5e.png" id="172" name="Google Shape;172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88513" y="2325663"/>
            <a:ext cx="20002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-6322119e.png" id="173" name="Google Shape;173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95841" y="2442865"/>
            <a:ext cx="2409825" cy="119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3"/>
          <p:cNvSpPr/>
          <p:nvPr/>
        </p:nvSpPr>
        <p:spPr>
          <a:xfrm>
            <a:off x="5324475" y="2964418"/>
            <a:ext cx="1543050" cy="2303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 AI</a:t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13"/>
          <p:cNvSpPr/>
          <p:nvPr/>
        </p:nvSpPr>
        <p:spPr>
          <a:xfrm>
            <a:off x="5181600" y="3767693"/>
            <a:ext cx="1828800" cy="1279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Pinpointing or</a:t>
            </a:r>
            <a:br>
              <a:rPr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integrating</a:t>
            </a:r>
            <a:br>
              <a:rPr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Artificial</a:t>
            </a:r>
            <a:br>
              <a:rPr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Intelligence</a:t>
            </a:r>
            <a:br>
              <a:rPr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components or</a:t>
            </a:r>
            <a:br>
              <a:rPr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insights.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13"/>
          <p:cNvSpPr/>
          <p:nvPr/>
        </p:nvSpPr>
        <p:spPr>
          <a:xfrm>
            <a:off x="5857875" y="2204740"/>
            <a:ext cx="476250" cy="47625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71886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2d6fa4a2.png" id="177" name="Google Shape;177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939730" y="2325663"/>
            <a:ext cx="3143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4c2f2622.png" id="178" name="Google Shape;178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105648" y="2442865"/>
            <a:ext cx="2400300" cy="119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3"/>
          <p:cNvSpPr/>
          <p:nvPr/>
        </p:nvSpPr>
        <p:spPr>
          <a:xfrm>
            <a:off x="7534275" y="2964418"/>
            <a:ext cx="1543050" cy="2303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</a:t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13"/>
          <p:cNvSpPr/>
          <p:nvPr/>
        </p:nvSpPr>
        <p:spPr>
          <a:xfrm>
            <a:off x="7391400" y="3767693"/>
            <a:ext cx="1828800" cy="10666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Evaluating</a:t>
            </a:r>
            <a:br>
              <a:rPr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 data</a:t>
            </a:r>
            <a:br>
              <a:rPr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points or findings</a:t>
            </a:r>
            <a:br>
              <a:rPr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against each</a:t>
            </a:r>
            <a:br>
              <a:rPr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other.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13"/>
          <p:cNvSpPr/>
          <p:nvPr/>
        </p:nvSpPr>
        <p:spPr>
          <a:xfrm>
            <a:off x="8067670" y="2204740"/>
            <a:ext cx="476250" cy="47625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5C695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-2bc4445e.png" id="182" name="Google Shape;182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196965" y="2334034"/>
            <a:ext cx="2190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6a9359e2.png" id="183" name="Google Shape;183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315443" y="2442865"/>
            <a:ext cx="2409825" cy="119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3"/>
          <p:cNvSpPr/>
          <p:nvPr/>
        </p:nvSpPr>
        <p:spPr>
          <a:xfrm>
            <a:off x="9744075" y="2964418"/>
            <a:ext cx="1543050" cy="2303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</a:t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" name="Google Shape;185;p13"/>
          <p:cNvSpPr/>
          <p:nvPr/>
        </p:nvSpPr>
        <p:spPr>
          <a:xfrm>
            <a:off x="9601200" y="3767693"/>
            <a:ext cx="1828800" cy="853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Interpreting the</a:t>
            </a:r>
            <a:br>
              <a:rPr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processed data to</a:t>
            </a:r>
            <a:br>
              <a:rPr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derive meaningful</a:t>
            </a:r>
            <a:br>
              <a:rPr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conclusions.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13"/>
          <p:cNvSpPr/>
          <p:nvPr/>
        </p:nvSpPr>
        <p:spPr>
          <a:xfrm>
            <a:off x="10277466" y="2204740"/>
            <a:ext cx="476250" cy="47625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454F4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3b455962.png" id="187" name="Google Shape;187;p1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395697" y="2317291"/>
            <a:ext cx="247650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3"/>
          <p:cNvSpPr/>
          <p:nvPr/>
        </p:nvSpPr>
        <p:spPr>
          <a:xfrm>
            <a:off x="0" y="6162675"/>
            <a:ext cx="12192000" cy="695325"/>
          </a:xfrm>
          <a:prstGeom prst="rect">
            <a:avLst/>
          </a:prstGeom>
          <a:solidFill>
            <a:srgbClr val="1436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d63ef62.png" id="194" name="Google Shape;1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4"/>
          <p:cNvSpPr/>
          <p:nvPr/>
        </p:nvSpPr>
        <p:spPr>
          <a:xfrm>
            <a:off x="428625" y="402729"/>
            <a:ext cx="11334750" cy="4818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64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4463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from </a:t>
            </a:r>
            <a:r>
              <a:rPr lang="en-US" sz="4463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McKinsey graphs</a:t>
            </a:r>
            <a:endParaRPr i="0" sz="27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p14"/>
          <p:cNvSpPr/>
          <p:nvPr/>
        </p:nvSpPr>
        <p:spPr>
          <a:xfrm>
            <a:off x="428625" y="1021159"/>
            <a:ext cx="11334750" cy="234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72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 on the Job Market</a:t>
            </a:r>
            <a:endParaRPr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14"/>
          <p:cNvSpPr/>
          <p:nvPr/>
        </p:nvSpPr>
        <p:spPr>
          <a:xfrm>
            <a:off x="476250" y="1695450"/>
            <a:ext cx="4476750" cy="468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4"/>
          <p:cNvSpPr/>
          <p:nvPr/>
        </p:nvSpPr>
        <p:spPr>
          <a:xfrm>
            <a:off x="6206025" y="1695450"/>
            <a:ext cx="5985900" cy="40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50190" lvl="0" marL="241300" marR="0" rtl="0" algn="l">
              <a:lnSpc>
                <a:spcPct val="126025"/>
              </a:lnSpc>
              <a:spcBef>
                <a:spcPts val="0"/>
              </a:spcBef>
              <a:spcAft>
                <a:spcPts val="0"/>
              </a:spcAft>
              <a:buClr>
                <a:srgbClr val="F5F6F2"/>
              </a:buClr>
              <a:buSzPts val="1700"/>
              <a:buFont typeface="Times New Roman"/>
              <a:buChar char="•"/>
            </a:pPr>
            <a:r>
              <a:rPr i="0" lang="en-US" sz="1700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 Jobs Increased</a:t>
            </a:r>
            <a:endParaRPr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889000" marR="0" rtl="0" algn="l">
              <a:lnSpc>
                <a:spcPct val="140000"/>
              </a:lnSpc>
              <a:spcBef>
                <a:spcPts val="49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Space Mono"/>
              <a:buNone/>
            </a:pPr>
            <a:r>
              <a:rPr i="0" lang="en-US" sz="1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Significant growth observed in technology-related</a:t>
            </a:r>
            <a:r>
              <a:rPr lang="en-US" sz="1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0" lang="en-US" sz="1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employment</a:t>
            </a:r>
            <a:r>
              <a:rPr lang="en-US" sz="1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0" lang="en-US" sz="1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sectors.</a:t>
            </a:r>
            <a:endParaRPr sz="17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0190" lvl="0" marL="241300" marR="0" rtl="0" algn="l">
              <a:lnSpc>
                <a:spcPct val="126025"/>
              </a:lnSpc>
              <a:spcBef>
                <a:spcPts val="2093"/>
              </a:spcBef>
              <a:spcAft>
                <a:spcPts val="0"/>
              </a:spcAft>
              <a:buClr>
                <a:srgbClr val="F5F6F2"/>
              </a:buClr>
              <a:buSzPts val="1700"/>
              <a:buFont typeface="Times New Roman"/>
              <a:buChar char="•"/>
            </a:pPr>
            <a:r>
              <a:rPr i="0" lang="en-US" sz="1700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Routine </a:t>
            </a:r>
            <a:r>
              <a:rPr i="0" lang="en-US" sz="1700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Jobs Decreased</a:t>
            </a:r>
            <a:endParaRPr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889000" marR="0" rtl="0" algn="l">
              <a:lnSpc>
                <a:spcPct val="140000"/>
              </a:lnSpc>
              <a:spcBef>
                <a:spcPts val="49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Space Mono"/>
              <a:buNone/>
            </a:pPr>
            <a:r>
              <a:rPr i="0" lang="en-US" sz="1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notable decline in positions primarily involving repetitive</a:t>
            </a:r>
            <a:r>
              <a:rPr lang="en-US" sz="1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0" lang="en-US" sz="1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tasks</a:t>
            </a:r>
            <a:r>
              <a:rPr lang="en-US" sz="1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0190" lvl="0" marL="241300" marR="0" rtl="0" algn="l">
              <a:lnSpc>
                <a:spcPct val="126025"/>
              </a:lnSpc>
              <a:spcBef>
                <a:spcPts val="2093"/>
              </a:spcBef>
              <a:spcAft>
                <a:spcPts val="0"/>
              </a:spcAft>
              <a:buClr>
                <a:srgbClr val="F5F6F2"/>
              </a:buClr>
              <a:buSzPts val="1700"/>
              <a:buFont typeface="Times New Roman"/>
              <a:buChar char="•"/>
            </a:pPr>
            <a:r>
              <a:rPr i="0" lang="en-US" sz="1700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Supports </a:t>
            </a:r>
            <a:r>
              <a:rPr i="0" lang="en-US" sz="1700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Skilled </a:t>
            </a:r>
            <a:r>
              <a:rPr i="0" lang="en-US" sz="1700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</a:t>
            </a:r>
            <a:endParaRPr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889000" marR="0" rtl="0" algn="l">
              <a:lnSpc>
                <a:spcPct val="140000"/>
              </a:lnSpc>
              <a:spcBef>
                <a:spcPts val="49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Space Mono"/>
              <a:buNone/>
            </a:pPr>
            <a:r>
              <a:rPr i="0" lang="en-US" sz="1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Artificial intelligence is augmenting and enhancing the</a:t>
            </a:r>
            <a:br>
              <a:rPr i="0" lang="en-US" sz="1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capabilities of skilled professionals.</a:t>
            </a:r>
            <a:endParaRPr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9" name="Google Shape;199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736" y="1768675"/>
            <a:ext cx="5732900" cy="386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d63ef62.png" id="205" name="Google Shape;2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5"/>
          <p:cNvSpPr/>
          <p:nvPr/>
        </p:nvSpPr>
        <p:spPr>
          <a:xfrm>
            <a:off x="428625" y="402729"/>
            <a:ext cx="11334750" cy="4818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64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863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Sector Comparison Analysis</a:t>
            </a:r>
            <a:endParaRPr i="0" sz="21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15"/>
          <p:cNvSpPr/>
          <p:nvPr/>
        </p:nvSpPr>
        <p:spPr>
          <a:xfrm>
            <a:off x="476250" y="1695450"/>
            <a:ext cx="11239500" cy="399097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5"/>
          <p:cNvSpPr/>
          <p:nvPr/>
        </p:nvSpPr>
        <p:spPr>
          <a:xfrm>
            <a:off x="0" y="6162675"/>
            <a:ext cx="12192000" cy="695325"/>
          </a:xfrm>
          <a:prstGeom prst="rect">
            <a:avLst/>
          </a:prstGeom>
          <a:solidFill>
            <a:srgbClr val="1436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5"/>
          <p:cNvSpPr/>
          <p:nvPr/>
        </p:nvSpPr>
        <p:spPr>
          <a:xfrm>
            <a:off x="1957388" y="6398220"/>
            <a:ext cx="8277225" cy="2112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 the trends across sectors to identify commonalities and divergences.</a:t>
            </a:r>
            <a:endParaRPr i="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0" name="Google Shape;21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0775" y="1274675"/>
            <a:ext cx="4962600" cy="4733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1" name="Google Shape;21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3625" y="1599338"/>
            <a:ext cx="6089400" cy="4183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d63ef62.png" id="217" name="Google Shape;21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6"/>
          <p:cNvSpPr/>
          <p:nvPr/>
        </p:nvSpPr>
        <p:spPr>
          <a:xfrm>
            <a:off x="428625" y="402729"/>
            <a:ext cx="113349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648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863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Employment Rates by Sector, 2014-2024</a:t>
            </a:r>
            <a:endParaRPr sz="3863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648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863">
              <a:solidFill>
                <a:srgbClr val="0710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64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63">
              <a:solidFill>
                <a:srgbClr val="0710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" name="Google Shape;219;p16"/>
          <p:cNvSpPr/>
          <p:nvPr/>
        </p:nvSpPr>
        <p:spPr>
          <a:xfrm>
            <a:off x="476250" y="1695450"/>
            <a:ext cx="11239500" cy="3990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6"/>
          <p:cNvSpPr/>
          <p:nvPr/>
        </p:nvSpPr>
        <p:spPr>
          <a:xfrm>
            <a:off x="0" y="6071025"/>
            <a:ext cx="12192000" cy="695400"/>
          </a:xfrm>
          <a:prstGeom prst="rect">
            <a:avLst/>
          </a:prstGeom>
          <a:solidFill>
            <a:srgbClr val="1436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1" name="Google Shape;221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95450" y="1355025"/>
            <a:ext cx="6779299" cy="457542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</p:pic>
      <p:sp>
        <p:nvSpPr>
          <p:cNvPr id="222" name="Google Shape;222;p16"/>
          <p:cNvSpPr txBox="1"/>
          <p:nvPr/>
        </p:nvSpPr>
        <p:spPr>
          <a:xfrm>
            <a:off x="261825" y="2252550"/>
            <a:ext cx="4725900" cy="3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Times New Roman"/>
              <a:buChar char="●"/>
            </a:pPr>
            <a:r>
              <a:rPr lang="en-US" sz="2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United States </a:t>
            </a:r>
            <a:r>
              <a:rPr lang="en-US" sz="2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Bureau</a:t>
            </a:r>
            <a:r>
              <a:rPr lang="en-US" sz="2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Labor </a:t>
            </a:r>
            <a:r>
              <a:rPr lang="en-US" sz="2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Statistics.</a:t>
            </a:r>
            <a:r>
              <a:rPr lang="en-US" sz="2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l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Times New Roman"/>
              <a:buChar char="●"/>
            </a:pPr>
            <a:r>
              <a:rPr lang="en-US" sz="2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Values represent total employment by sector for each year.</a:t>
            </a:r>
            <a:endParaRPr sz="2500">
              <a:solidFill>
                <a:schemeClr val="lt1"/>
              </a:solidFill>
            </a:endParaRPr>
          </a:p>
        </p:txBody>
      </p:sp>
      <p:sp>
        <p:nvSpPr>
          <p:cNvPr id="223" name="Google Shape;223;p16"/>
          <p:cNvSpPr/>
          <p:nvPr/>
        </p:nvSpPr>
        <p:spPr>
          <a:xfrm>
            <a:off x="1957388" y="6398220"/>
            <a:ext cx="8277300" cy="2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change of employment from 2014 to 2024. </a:t>
            </a:r>
            <a:endParaRPr i="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d63ef62.png" id="229" name="Google Shape;22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7"/>
          <p:cNvSpPr/>
          <p:nvPr/>
        </p:nvSpPr>
        <p:spPr>
          <a:xfrm>
            <a:off x="428625" y="402729"/>
            <a:ext cx="113349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6483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863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Percent Employment Change by Sector, 2014-2024</a:t>
            </a:r>
            <a:endParaRPr sz="3863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6483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3863">
              <a:solidFill>
                <a:srgbClr val="0710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648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863">
              <a:solidFill>
                <a:srgbClr val="0710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648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863">
              <a:solidFill>
                <a:srgbClr val="0710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64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63">
              <a:solidFill>
                <a:srgbClr val="0710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1" name="Google Shape;231;p17"/>
          <p:cNvSpPr/>
          <p:nvPr/>
        </p:nvSpPr>
        <p:spPr>
          <a:xfrm>
            <a:off x="476250" y="1695450"/>
            <a:ext cx="11239500" cy="3990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7"/>
          <p:cNvSpPr/>
          <p:nvPr/>
        </p:nvSpPr>
        <p:spPr>
          <a:xfrm>
            <a:off x="0" y="6162675"/>
            <a:ext cx="12192000" cy="695400"/>
          </a:xfrm>
          <a:prstGeom prst="rect">
            <a:avLst/>
          </a:prstGeom>
          <a:solidFill>
            <a:srgbClr val="1436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7"/>
          <p:cNvSpPr/>
          <p:nvPr/>
        </p:nvSpPr>
        <p:spPr>
          <a:xfrm>
            <a:off x="1957388" y="6398220"/>
            <a:ext cx="8277300" cy="2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net change of employment from 2014 to 2024. </a:t>
            </a:r>
            <a:endParaRPr i="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4" name="Google Shape;234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3800" y="1384000"/>
            <a:ext cx="7468225" cy="427917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</p:pic>
      <p:sp>
        <p:nvSpPr>
          <p:cNvPr id="235" name="Google Shape;235;p17"/>
          <p:cNvSpPr txBox="1"/>
          <p:nvPr/>
        </p:nvSpPr>
        <p:spPr>
          <a:xfrm>
            <a:off x="7918475" y="1695450"/>
            <a:ext cx="4066200" cy="39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0675" lvl="0" marL="45720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50"/>
              <a:buFont typeface="Times New Roman"/>
              <a:buChar char="●"/>
            </a:pPr>
            <a:r>
              <a:rPr lang="en-US" sz="145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Publishers experienced the highest growth at 104.4% rate.</a:t>
            </a:r>
            <a:endParaRPr sz="145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0675" lvl="0" marL="45720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50"/>
              <a:buFont typeface="Times New Roman"/>
              <a:buChar char="●"/>
            </a:pPr>
            <a:r>
              <a:rPr lang="en-US" sz="145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Construction followed with strong growth at a rate of 83.7%.</a:t>
            </a:r>
            <a:endParaRPr sz="145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0675" lvl="0" marL="45720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50"/>
              <a:buFont typeface="Times New Roman"/>
              <a:buChar char="●"/>
            </a:pPr>
            <a:r>
              <a:rPr lang="en-US" sz="145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Management of Companies showed moderate growth at 21.4% rate.</a:t>
            </a:r>
            <a:endParaRPr sz="145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0675" lvl="0" marL="45720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50"/>
              <a:buFont typeface="Times New Roman"/>
              <a:buChar char="●"/>
            </a:pPr>
            <a:r>
              <a:rPr lang="en-US" sz="145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Schools, Medical Equipment, and Administration Support Services grew at a slower rate.</a:t>
            </a:r>
            <a:endParaRPr sz="145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0675" lvl="0" marL="45720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50"/>
              <a:buFont typeface="Times New Roman"/>
              <a:buChar char="●"/>
            </a:pPr>
            <a:r>
              <a:rPr lang="en-US" sz="145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results show a </a:t>
            </a:r>
            <a:r>
              <a:rPr lang="en-US" sz="145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positive trend in employment growth across all sectors.</a:t>
            </a:r>
            <a:endParaRPr sz="145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d63ef62.png" id="241" name="Google Shape;24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8"/>
          <p:cNvSpPr/>
          <p:nvPr/>
        </p:nvSpPr>
        <p:spPr>
          <a:xfrm>
            <a:off x="428625" y="402729"/>
            <a:ext cx="113349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648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863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Employment Rates vs Unemployment Rate, 2014-2024</a:t>
            </a:r>
            <a:endParaRPr sz="3863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648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863">
              <a:solidFill>
                <a:srgbClr val="0710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64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63">
              <a:solidFill>
                <a:srgbClr val="0710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3" name="Google Shape;243;p18"/>
          <p:cNvSpPr/>
          <p:nvPr/>
        </p:nvSpPr>
        <p:spPr>
          <a:xfrm>
            <a:off x="476250" y="1695450"/>
            <a:ext cx="11239500" cy="3990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8"/>
          <p:cNvSpPr/>
          <p:nvPr/>
        </p:nvSpPr>
        <p:spPr>
          <a:xfrm>
            <a:off x="0" y="6071025"/>
            <a:ext cx="12192000" cy="695400"/>
          </a:xfrm>
          <a:prstGeom prst="rect">
            <a:avLst/>
          </a:prstGeom>
          <a:solidFill>
            <a:srgbClr val="1436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8"/>
          <p:cNvSpPr txBox="1"/>
          <p:nvPr/>
        </p:nvSpPr>
        <p:spPr>
          <a:xfrm>
            <a:off x="261825" y="2252550"/>
            <a:ext cx="4725900" cy="3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Times New Roman"/>
              <a:buChar char="●"/>
            </a:pPr>
            <a:r>
              <a:rPr lang="en-US" sz="2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United States Bureau of Labor Statistics. </a:t>
            </a:r>
            <a:endParaRPr sz="2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l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Times New Roman"/>
              <a:buChar char="●"/>
            </a:pPr>
            <a:r>
              <a:rPr lang="en-US" sz="2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Values represent total employment by sector for each year.</a:t>
            </a:r>
            <a:endParaRPr sz="2500">
              <a:solidFill>
                <a:schemeClr val="lt1"/>
              </a:solidFill>
            </a:endParaRPr>
          </a:p>
        </p:txBody>
      </p:sp>
      <p:sp>
        <p:nvSpPr>
          <p:cNvPr id="246" name="Google Shape;246;p18"/>
          <p:cNvSpPr/>
          <p:nvPr/>
        </p:nvSpPr>
        <p:spPr>
          <a:xfrm>
            <a:off x="1957388" y="6398220"/>
            <a:ext cx="8277300" cy="2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rate of employment compared to the national unemployment rate </a:t>
            </a:r>
            <a:r>
              <a:rPr lang="en-US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2014 to 2024.</a:t>
            </a:r>
            <a:endParaRPr i="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7" name="Google Shape;24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53453" y="1095663"/>
            <a:ext cx="6914522" cy="4666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d63ef62.png" id="253" name="Google Shape;25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9"/>
          <p:cNvSpPr/>
          <p:nvPr/>
        </p:nvSpPr>
        <p:spPr>
          <a:xfrm>
            <a:off x="428625" y="402729"/>
            <a:ext cx="113349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648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863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Employment Annualized Growth by Sector and Period</a:t>
            </a:r>
            <a:endParaRPr sz="3863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648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863">
              <a:solidFill>
                <a:srgbClr val="0710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64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63">
              <a:solidFill>
                <a:srgbClr val="0710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" name="Google Shape;255;p19"/>
          <p:cNvSpPr/>
          <p:nvPr/>
        </p:nvSpPr>
        <p:spPr>
          <a:xfrm>
            <a:off x="476250" y="1695450"/>
            <a:ext cx="11239500" cy="3990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9"/>
          <p:cNvSpPr/>
          <p:nvPr/>
        </p:nvSpPr>
        <p:spPr>
          <a:xfrm>
            <a:off x="0" y="6162675"/>
            <a:ext cx="12192000" cy="695400"/>
          </a:xfrm>
          <a:prstGeom prst="rect">
            <a:avLst/>
          </a:prstGeom>
          <a:solidFill>
            <a:srgbClr val="1436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7" name="Google Shape;257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625" y="1245325"/>
            <a:ext cx="7018851" cy="419372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9"/>
          <p:cNvSpPr txBox="1"/>
          <p:nvPr/>
        </p:nvSpPr>
        <p:spPr>
          <a:xfrm>
            <a:off x="7832125" y="1846875"/>
            <a:ext cx="3931500" cy="3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Pre-Covid/ Pre-AI </a:t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Char char="○"/>
            </a:pPr>
            <a:r>
              <a:rPr lang="en-US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2014 - 2019</a:t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Covid Disruption</a:t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Char char="○"/>
            </a:pPr>
            <a:r>
              <a:rPr lang="en-US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2020-2021</a:t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Period</a:t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Char char="○"/>
            </a:pPr>
            <a:r>
              <a:rPr lang="en-US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2022 - 2024</a:t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9"/>
          <p:cNvSpPr/>
          <p:nvPr/>
        </p:nvSpPr>
        <p:spPr>
          <a:xfrm>
            <a:off x="1957388" y="6398220"/>
            <a:ext cx="8277300" cy="2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Change of </a:t>
            </a:r>
            <a:r>
              <a:rPr lang="en-US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employment</a:t>
            </a:r>
            <a:r>
              <a:rPr lang="en-US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during</a:t>
            </a:r>
            <a:r>
              <a:rPr lang="en-US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</a:t>
            </a:r>
            <a:r>
              <a:rPr lang="en-US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time blocks through 2014-2024</a:t>
            </a:r>
            <a:r>
              <a:rPr lang="en-US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i="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d63ef62.png" id="265" name="Google Shape;26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0"/>
          <p:cNvSpPr/>
          <p:nvPr/>
        </p:nvSpPr>
        <p:spPr>
          <a:xfrm>
            <a:off x="428625" y="402729"/>
            <a:ext cx="113349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64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563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Interpretation</a:t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7" name="Google Shape;267;p20"/>
          <p:cNvSpPr/>
          <p:nvPr/>
        </p:nvSpPr>
        <p:spPr>
          <a:xfrm>
            <a:off x="476250" y="1562100"/>
            <a:ext cx="4476750" cy="412432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person learning on a laptop with futuristic digital elements in the background." id="268" name="Google Shape;268;p20"/>
          <p:cNvPicPr preferRelativeResize="0"/>
          <p:nvPr/>
        </p:nvPicPr>
        <p:blipFill rotWithShape="1">
          <a:blip r:embed="rId5">
            <a:alphaModFix/>
          </a:blip>
          <a:srcRect b="17763" l="0" r="0" t="13815"/>
          <a:stretch/>
        </p:blipFill>
        <p:spPr>
          <a:xfrm>
            <a:off x="476250" y="1309275"/>
            <a:ext cx="4476600" cy="4377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69" name="Google Shape;269;p20"/>
          <p:cNvSpPr/>
          <p:nvPr/>
        </p:nvSpPr>
        <p:spPr>
          <a:xfrm>
            <a:off x="5268325" y="1562093"/>
            <a:ext cx="6495000" cy="27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66700" lvl="0" marL="241300" marR="0" rtl="0" algn="l">
              <a:lnSpc>
                <a:spcPct val="126025"/>
              </a:lnSpc>
              <a:spcBef>
                <a:spcPts val="0"/>
              </a:spcBef>
              <a:spcAft>
                <a:spcPts val="0"/>
              </a:spcAft>
              <a:buClr>
                <a:srgbClr val="F5F6F2"/>
              </a:buClr>
              <a:buSzPts val="1960"/>
              <a:buFont typeface="Times New Roman"/>
              <a:buChar char="•"/>
            </a:pPr>
            <a:r>
              <a:rPr i="0" lang="en-US" sz="1960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AI's Impact on Work</a:t>
            </a:r>
            <a:endParaRPr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889000" marR="0" rtl="0" algn="l">
              <a:lnSpc>
                <a:spcPct val="140000"/>
              </a:lnSpc>
              <a:spcBef>
                <a:spcPts val="49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Space Mono"/>
              <a:buNone/>
            </a:pPr>
            <a:r>
              <a:rPr i="0" lang="en-US" sz="1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Artificial intelligence implementation  is </a:t>
            </a:r>
            <a:r>
              <a:rPr i="0" lang="en-US" sz="1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fundamentally</a:t>
            </a:r>
            <a:r>
              <a:rPr i="0" lang="en-US" sz="1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changing the nature of</a:t>
            </a:r>
            <a:r>
              <a:rPr lang="en-US" sz="1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0" lang="en-US" sz="1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job roles and </a:t>
            </a:r>
            <a:r>
              <a:rPr i="0" lang="en-US" sz="1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responsibilities</a:t>
            </a:r>
            <a:r>
              <a:rPr i="0" lang="en-US" sz="1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i="0" sz="2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0" marL="241300" marR="0" rtl="0" algn="l">
              <a:lnSpc>
                <a:spcPct val="126025"/>
              </a:lnSpc>
              <a:spcBef>
                <a:spcPts val="2093"/>
              </a:spcBef>
              <a:spcAft>
                <a:spcPts val="0"/>
              </a:spcAft>
              <a:buClr>
                <a:srgbClr val="F5F6F2"/>
              </a:buClr>
              <a:buSzPts val="1960"/>
              <a:buFont typeface="Times New Roman"/>
              <a:buChar char="•"/>
            </a:pPr>
            <a:r>
              <a:rPr i="0" lang="en-US" sz="1960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Skill Acquisition</a:t>
            </a:r>
            <a:endParaRPr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889000" marR="0" rtl="0" algn="l">
              <a:lnSpc>
                <a:spcPct val="140000"/>
              </a:lnSpc>
              <a:spcBef>
                <a:spcPts val="49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Space Mono"/>
              <a:buNone/>
            </a:pPr>
            <a:r>
              <a:rPr i="0" lang="en-US" sz="1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transformation requires individuals to develop and acquire</a:t>
            </a:r>
            <a:br>
              <a:rPr i="0" lang="en-US" sz="1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 skills and levels competenc</a:t>
            </a:r>
            <a:r>
              <a:rPr lang="en-US" sz="1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i="0" lang="en-US" sz="1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i="0" sz="2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0" marL="241300" marR="0" rtl="0" algn="l">
              <a:lnSpc>
                <a:spcPct val="126025"/>
              </a:lnSpc>
              <a:spcBef>
                <a:spcPts val="2093"/>
              </a:spcBef>
              <a:spcAft>
                <a:spcPts val="0"/>
              </a:spcAft>
              <a:buClr>
                <a:srgbClr val="F5F6F2"/>
              </a:buClr>
              <a:buSzPts val="1960"/>
              <a:buFont typeface="Times New Roman"/>
              <a:buChar char="•"/>
            </a:pPr>
            <a:r>
              <a:rPr i="0" lang="en-US" sz="1960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Adapting Education</a:t>
            </a:r>
            <a:endParaRPr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889000" marR="0" rtl="0" algn="l">
              <a:lnSpc>
                <a:spcPct val="140000"/>
              </a:lnSpc>
              <a:spcBef>
                <a:spcPts val="49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Space Mono"/>
              <a:buNone/>
            </a:pPr>
            <a:r>
              <a:rPr i="0" lang="en-US" sz="1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Educational systems need to evolve to effectively address these</a:t>
            </a:r>
            <a:br>
              <a:rPr i="0" lang="en-US" sz="1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changing demands</a:t>
            </a:r>
            <a:r>
              <a:rPr lang="en-US" sz="1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better prepare students for the changing job market.</a:t>
            </a:r>
            <a:endParaRPr i="0" sz="2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0" name="Google Shape;270;p20"/>
          <p:cNvSpPr/>
          <p:nvPr/>
        </p:nvSpPr>
        <p:spPr>
          <a:xfrm>
            <a:off x="0" y="6162675"/>
            <a:ext cx="12192000" cy="695325"/>
          </a:xfrm>
          <a:prstGeom prst="rect">
            <a:avLst/>
          </a:prstGeom>
          <a:solidFill>
            <a:srgbClr val="1436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d63ef62.png" id="276" name="Google Shape;27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1"/>
          <p:cNvSpPr/>
          <p:nvPr/>
        </p:nvSpPr>
        <p:spPr>
          <a:xfrm>
            <a:off x="428625" y="402729"/>
            <a:ext cx="11334750" cy="4818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64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563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Findings on AI's Impact on Employment</a:t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8" name="Google Shape;278;p21"/>
          <p:cNvSpPr/>
          <p:nvPr/>
        </p:nvSpPr>
        <p:spPr>
          <a:xfrm>
            <a:off x="1391500" y="1864056"/>
            <a:ext cx="1428900" cy="1428900"/>
          </a:xfrm>
          <a:prstGeom prst="ellipse">
            <a:avLst/>
          </a:prstGeom>
          <a:solidFill>
            <a:srgbClr val="B9D5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-40ca139e.png" id="279" name="Google Shape;27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12870" y="2310542"/>
            <a:ext cx="581025" cy="542925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1"/>
          <p:cNvSpPr/>
          <p:nvPr/>
        </p:nvSpPr>
        <p:spPr>
          <a:xfrm>
            <a:off x="318101" y="3511388"/>
            <a:ext cx="34575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Job Creation &amp; Displacement</a:t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21"/>
          <p:cNvSpPr/>
          <p:nvPr/>
        </p:nvSpPr>
        <p:spPr>
          <a:xfrm>
            <a:off x="259001" y="4076217"/>
            <a:ext cx="36939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technologies are creating new job</a:t>
            </a:r>
            <a:br>
              <a:rPr i="0" lang="en-US" sz="1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opportunities while automating</a:t>
            </a:r>
            <a:br>
              <a:rPr i="0" lang="en-US" sz="1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roles, leading to a dynamic</a:t>
            </a:r>
            <a:br>
              <a:rPr i="0" lang="en-US" sz="1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shift in </a:t>
            </a:r>
            <a:r>
              <a:rPr lang="en-US" sz="1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labor demands</a:t>
            </a:r>
            <a:r>
              <a:rPr i="0" lang="en-US" sz="1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21"/>
          <p:cNvSpPr/>
          <p:nvPr/>
        </p:nvSpPr>
        <p:spPr>
          <a:xfrm>
            <a:off x="5296750" y="1864056"/>
            <a:ext cx="1428900" cy="1428900"/>
          </a:xfrm>
          <a:prstGeom prst="ellipse">
            <a:avLst/>
          </a:prstGeom>
          <a:solidFill>
            <a:srgbClr val="F66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-371ec29e.png" id="283" name="Google Shape;28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8120" y="2285423"/>
            <a:ext cx="581025" cy="581025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1"/>
          <p:cNvSpPr/>
          <p:nvPr/>
        </p:nvSpPr>
        <p:spPr>
          <a:xfrm>
            <a:off x="4223350" y="3511388"/>
            <a:ext cx="34575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Mixed Hiring Patterns</a:t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5" name="Google Shape;285;p21"/>
          <p:cNvSpPr/>
          <p:nvPr/>
        </p:nvSpPr>
        <p:spPr>
          <a:xfrm>
            <a:off x="4164251" y="4076217"/>
            <a:ext cx="36939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Organizations observe varied hiring</a:t>
            </a:r>
            <a:br>
              <a:rPr i="0" lang="en-US" sz="1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trends, with increased demand for AI</a:t>
            </a:r>
            <a:br>
              <a:rPr i="0" lang="en-US" sz="1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skills in some sectors</a:t>
            </a:r>
            <a:r>
              <a:rPr lang="en-US" sz="1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</a:t>
            </a:r>
            <a:r>
              <a:rPr i="0" lang="en-US" sz="1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surplus</a:t>
            </a:r>
            <a:br>
              <a:rPr i="0" lang="en-US" sz="1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 de</a:t>
            </a:r>
            <a:r>
              <a:rPr lang="en-US" sz="1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ficit</a:t>
            </a:r>
            <a:r>
              <a:rPr i="0" lang="en-US" sz="1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others.</a:t>
            </a:r>
            <a:endParaRPr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6" name="Google Shape;286;p21"/>
          <p:cNvSpPr/>
          <p:nvPr/>
        </p:nvSpPr>
        <p:spPr>
          <a:xfrm>
            <a:off x="9202000" y="1864056"/>
            <a:ext cx="1428900" cy="1428900"/>
          </a:xfrm>
          <a:prstGeom prst="ellipse">
            <a:avLst/>
          </a:prstGeom>
          <a:solidFill>
            <a:srgbClr val="F3AE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-244f2a5e.png" id="287" name="Google Shape;287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98255" y="2235194"/>
            <a:ext cx="638175" cy="676275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1"/>
          <p:cNvSpPr/>
          <p:nvPr/>
        </p:nvSpPr>
        <p:spPr>
          <a:xfrm>
            <a:off x="8010389" y="3511388"/>
            <a:ext cx="36939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Variable Impact Across Sectors</a:t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" name="Google Shape;289;p21"/>
          <p:cNvSpPr/>
          <p:nvPr/>
        </p:nvSpPr>
        <p:spPr>
          <a:xfrm>
            <a:off x="8069501" y="4076217"/>
            <a:ext cx="36939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impact of AI on employment is</a:t>
            </a:r>
            <a:br>
              <a:rPr i="0" lang="en-US" sz="1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uniform</a:t>
            </a:r>
            <a:r>
              <a:rPr i="0" lang="en-US" sz="1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</a:t>
            </a:r>
            <a:r>
              <a:rPr i="0" lang="en-US" sz="1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arying significantly by</a:t>
            </a:r>
            <a:br>
              <a:rPr i="0" lang="en-US" sz="1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industry, job function, required</a:t>
            </a:r>
            <a:br>
              <a:rPr i="0" lang="en-US" sz="1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7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skills, and adoption pace.</a:t>
            </a:r>
            <a:endParaRPr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d63ef62.png" id="295" name="Google Shape;29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2"/>
          <p:cNvSpPr/>
          <p:nvPr/>
        </p:nvSpPr>
        <p:spPr>
          <a:xfrm>
            <a:off x="428625" y="402729"/>
            <a:ext cx="11334750" cy="4818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64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563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AI's Impact on the Job Market</a:t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7" name="Google Shape;297;p22"/>
          <p:cNvSpPr/>
          <p:nvPr/>
        </p:nvSpPr>
        <p:spPr>
          <a:xfrm>
            <a:off x="476250" y="1562100"/>
            <a:ext cx="4476750" cy="390525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split image showing one side with a factory worker and the other side with a robot arm." id="298" name="Google Shape;298;p22"/>
          <p:cNvPicPr preferRelativeResize="0"/>
          <p:nvPr/>
        </p:nvPicPr>
        <p:blipFill rotWithShape="1">
          <a:blip r:embed="rId4">
            <a:alphaModFix/>
          </a:blip>
          <a:srcRect b="19478" l="0" r="0" t="19478"/>
          <a:stretch/>
        </p:blipFill>
        <p:spPr>
          <a:xfrm>
            <a:off x="476250" y="1562100"/>
            <a:ext cx="4476900" cy="3905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99" name="Google Shape;299;p22"/>
          <p:cNvSpPr/>
          <p:nvPr/>
        </p:nvSpPr>
        <p:spPr>
          <a:xfrm>
            <a:off x="5597350" y="1562105"/>
            <a:ext cx="6286500" cy="25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66700" lvl="0" marL="241300" marR="0" rtl="0" algn="l">
              <a:lnSpc>
                <a:spcPct val="126025"/>
              </a:lnSpc>
              <a:spcBef>
                <a:spcPts val="0"/>
              </a:spcBef>
              <a:spcAft>
                <a:spcPts val="0"/>
              </a:spcAft>
              <a:buClr>
                <a:srgbClr val="F5F6F2"/>
              </a:buClr>
              <a:buSzPts val="1960"/>
              <a:buFont typeface="Times New Roman"/>
              <a:buChar char="•"/>
            </a:pPr>
            <a:r>
              <a:rPr i="0" lang="en-US" sz="1960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Job Decline</a:t>
            </a:r>
            <a:endParaRPr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889000" marR="0" rtl="0" algn="l">
              <a:lnSpc>
                <a:spcPct val="140000"/>
              </a:lnSpc>
              <a:spcBef>
                <a:spcPts val="49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Space Mono"/>
              <a:buNone/>
            </a:pPr>
            <a:r>
              <a:rPr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Certain roles may diminish due to automation.</a:t>
            </a:r>
            <a:endParaRPr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0" marL="241300" marR="0" rtl="0" algn="l">
              <a:lnSpc>
                <a:spcPct val="126025"/>
              </a:lnSpc>
              <a:spcBef>
                <a:spcPts val="2093"/>
              </a:spcBef>
              <a:spcAft>
                <a:spcPts val="0"/>
              </a:spcAft>
              <a:buClr>
                <a:srgbClr val="F5F6F2"/>
              </a:buClr>
              <a:buSzPts val="1960"/>
              <a:buFont typeface="Times New Roman"/>
              <a:buChar char="•"/>
            </a:pPr>
            <a:r>
              <a:rPr i="0" lang="en-US" sz="1960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Job Growth</a:t>
            </a:r>
            <a:endParaRPr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889000" marR="0" rtl="0" algn="l">
              <a:lnSpc>
                <a:spcPct val="140000"/>
              </a:lnSpc>
              <a:spcBef>
                <a:spcPts val="49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Space Mono"/>
              <a:buNone/>
            </a:pPr>
            <a:r>
              <a:rPr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 opportunities will emerge, driven by AI development and</a:t>
            </a:r>
            <a:br>
              <a:rPr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integration.</a:t>
            </a:r>
            <a:endParaRPr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0" marL="241300" marR="0" rtl="0" algn="l">
              <a:lnSpc>
                <a:spcPct val="126025"/>
              </a:lnSpc>
              <a:spcBef>
                <a:spcPts val="2093"/>
              </a:spcBef>
              <a:spcAft>
                <a:spcPts val="0"/>
              </a:spcAft>
              <a:buClr>
                <a:srgbClr val="F5F6F2"/>
              </a:buClr>
              <a:buSzPts val="1960"/>
              <a:buFont typeface="Times New Roman"/>
              <a:buChar char="•"/>
            </a:pPr>
            <a:r>
              <a:rPr i="0" lang="en-US" sz="1960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Adaptation is Key</a:t>
            </a:r>
            <a:endParaRPr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889000" marR="0" rtl="0" algn="l">
              <a:lnSpc>
                <a:spcPct val="140000"/>
              </a:lnSpc>
              <a:spcBef>
                <a:spcPts val="49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Space Mono"/>
              <a:buNone/>
            </a:pPr>
            <a:r>
              <a:rPr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Continuous learning and skill development are crucial for</a:t>
            </a:r>
            <a:br>
              <a:rPr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navigating these shifts.</a:t>
            </a:r>
            <a:endParaRPr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0" name="Google Shape;300;p22"/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1436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2"/>
          <p:cNvSpPr/>
          <p:nvPr/>
        </p:nvSpPr>
        <p:spPr>
          <a:xfrm>
            <a:off x="1752600" y="6179145"/>
            <a:ext cx="8686800" cy="4224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20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AI's impact on the job market is multifaceted, involving both job decline and</a:t>
            </a:r>
            <a:br>
              <a:rPr i="0" lang="en-US" sz="1620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620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growth. Adaptation through continuous learning and skill development is crucial.</a:t>
            </a:r>
            <a:endParaRPr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d63ef62.png" id="307" name="Google Shape;30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3"/>
          <p:cNvSpPr/>
          <p:nvPr/>
        </p:nvSpPr>
        <p:spPr>
          <a:xfrm>
            <a:off x="428538" y="544954"/>
            <a:ext cx="113349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64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4663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Work</a:t>
            </a:r>
            <a:endParaRPr i="0" sz="2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9" name="Google Shape;309;p23"/>
          <p:cNvSpPr/>
          <p:nvPr/>
        </p:nvSpPr>
        <p:spPr>
          <a:xfrm>
            <a:off x="8437590" y="4942201"/>
            <a:ext cx="3362100" cy="1501500"/>
          </a:xfrm>
          <a:prstGeom prst="rect">
            <a:avLst/>
          </a:prstGeom>
          <a:solidFill>
            <a:srgbClr val="B9D5B1"/>
          </a:solidFill>
          <a:ln>
            <a:noFill/>
          </a:ln>
        </p:spPr>
        <p:txBody>
          <a:bodyPr anchorCtr="0" anchor="ctr" bIns="70475" lIns="70475" spcFirstLastPara="1" rIns="70475" wrap="square" tIns="70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9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0" name="Google Shape;310;p23"/>
          <p:cNvSpPr/>
          <p:nvPr/>
        </p:nvSpPr>
        <p:spPr>
          <a:xfrm>
            <a:off x="8702995" y="5318559"/>
            <a:ext cx="3098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02" u="none" cap="none" strike="noStrike">
                <a:solidFill>
                  <a:srgbClr val="0710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Expand to More Industries</a:t>
            </a:r>
            <a:endParaRPr i="0" sz="1687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1" name="Google Shape;311;p23"/>
          <p:cNvSpPr/>
          <p:nvPr/>
        </p:nvSpPr>
        <p:spPr>
          <a:xfrm>
            <a:off x="8702995" y="5574615"/>
            <a:ext cx="29196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2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Incorporate insights and</a:t>
            </a:r>
            <a:br>
              <a:rPr i="0" lang="en-US" sz="122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22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applications for a wider range</a:t>
            </a:r>
            <a:br>
              <a:rPr i="0" lang="en-US" sz="122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22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industries.</a:t>
            </a:r>
            <a:endParaRPr i="0" sz="1687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2" name="Google Shape;312;p23"/>
          <p:cNvSpPr/>
          <p:nvPr/>
        </p:nvSpPr>
        <p:spPr>
          <a:xfrm>
            <a:off x="9786734" y="4666872"/>
            <a:ext cx="663300" cy="550500"/>
          </a:xfrm>
          <a:prstGeom prst="ellipse">
            <a:avLst/>
          </a:prstGeom>
          <a:solidFill>
            <a:srgbClr val="FFFFFF"/>
          </a:solidFill>
          <a:ln cap="flat" cmpd="sng" w="29400">
            <a:solidFill>
              <a:srgbClr val="9BC39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70475" lIns="70475" spcFirstLastPara="1" rIns="70475" wrap="square" tIns="70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383d98e2.png" id="313" name="Google Shape;31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00913" y="4776924"/>
            <a:ext cx="234946" cy="330393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3"/>
          <p:cNvSpPr/>
          <p:nvPr/>
        </p:nvSpPr>
        <p:spPr>
          <a:xfrm>
            <a:off x="8475907" y="3081541"/>
            <a:ext cx="3233400" cy="1444200"/>
          </a:xfrm>
          <a:prstGeom prst="rect">
            <a:avLst/>
          </a:prstGeom>
          <a:solidFill>
            <a:srgbClr val="F66A2E"/>
          </a:solidFill>
          <a:ln>
            <a:noFill/>
          </a:ln>
        </p:spPr>
        <p:txBody>
          <a:bodyPr anchorCtr="0" anchor="ctr" bIns="67775" lIns="67775" spcFirstLastPara="1" rIns="67775" wrap="square" tIns="67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" name="Google Shape;315;p23"/>
          <p:cNvSpPr/>
          <p:nvPr/>
        </p:nvSpPr>
        <p:spPr>
          <a:xfrm>
            <a:off x="8731180" y="3443529"/>
            <a:ext cx="28080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57" u="none" cap="none" strike="noStrike">
                <a:solidFill>
                  <a:srgbClr val="0710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Enhance Data Quality</a:t>
            </a:r>
            <a:endParaRPr i="0" sz="1635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6" name="Google Shape;316;p23"/>
          <p:cNvSpPr/>
          <p:nvPr/>
        </p:nvSpPr>
        <p:spPr>
          <a:xfrm>
            <a:off x="8731180" y="3689808"/>
            <a:ext cx="2808000" cy="4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9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 the accuracy,</a:t>
            </a:r>
            <a:br>
              <a:rPr i="0" lang="en-US" sz="119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19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completeness, and relevance of</a:t>
            </a:r>
            <a:br>
              <a:rPr i="0" lang="en-US" sz="119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19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underlying data.</a:t>
            </a:r>
            <a:endParaRPr i="0" sz="1635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7" name="Google Shape;317;p23"/>
          <p:cNvSpPr/>
          <p:nvPr/>
        </p:nvSpPr>
        <p:spPr>
          <a:xfrm>
            <a:off x="9786738" y="2816725"/>
            <a:ext cx="735600" cy="529500"/>
          </a:xfrm>
          <a:prstGeom prst="ellipse">
            <a:avLst/>
          </a:prstGeom>
          <a:solidFill>
            <a:srgbClr val="FFFFFF"/>
          </a:solidFill>
          <a:ln cap="flat" cmpd="sng" w="28250">
            <a:solidFill>
              <a:srgbClr val="E74C0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7775" lIns="67775" spcFirstLastPara="1" rIns="67775" wrap="square" tIns="67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-5077495e.png" id="318" name="Google Shape;31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999064" y="2982810"/>
            <a:ext cx="272290" cy="204791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3"/>
          <p:cNvSpPr/>
          <p:nvPr/>
        </p:nvSpPr>
        <p:spPr>
          <a:xfrm>
            <a:off x="8475907" y="1282666"/>
            <a:ext cx="3233400" cy="1444200"/>
          </a:xfrm>
          <a:prstGeom prst="rect">
            <a:avLst/>
          </a:prstGeom>
          <a:solidFill>
            <a:srgbClr val="F3AE37"/>
          </a:solidFill>
          <a:ln>
            <a:noFill/>
          </a:ln>
        </p:spPr>
        <p:txBody>
          <a:bodyPr anchorCtr="0" anchor="ctr" bIns="67775" lIns="67775" spcFirstLastPara="1" rIns="67775" wrap="square" tIns="67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" name="Google Shape;320;p23"/>
          <p:cNvSpPr/>
          <p:nvPr/>
        </p:nvSpPr>
        <p:spPr>
          <a:xfrm>
            <a:off x="8731180" y="1644654"/>
            <a:ext cx="2808000" cy="3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57" u="none" cap="none" strike="noStrike">
                <a:solidFill>
                  <a:srgbClr val="0710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Future</a:t>
            </a:r>
            <a:r>
              <a:rPr lang="en-US" sz="1357">
                <a:solidFill>
                  <a:srgbClr val="0710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0" lang="en-US" sz="1357" u="none" cap="none" strike="noStrike">
                <a:solidFill>
                  <a:srgbClr val="0710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Predictions</a:t>
            </a:r>
            <a:endParaRPr i="0" sz="1535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1" name="Google Shape;321;p23"/>
          <p:cNvSpPr/>
          <p:nvPr/>
        </p:nvSpPr>
        <p:spPr>
          <a:xfrm>
            <a:off x="8707502" y="1944897"/>
            <a:ext cx="2855400" cy="4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9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more sophisticated models</a:t>
            </a:r>
            <a:br>
              <a:rPr i="0" lang="en-US" sz="109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09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forecasting future trends</a:t>
            </a:r>
            <a:br>
              <a:rPr i="0" lang="en-US" sz="109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09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outcomes.</a:t>
            </a:r>
            <a:endParaRPr i="0" sz="1535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2" name="Google Shape;322;p23"/>
          <p:cNvSpPr/>
          <p:nvPr/>
        </p:nvSpPr>
        <p:spPr>
          <a:xfrm>
            <a:off x="9773542" y="1017850"/>
            <a:ext cx="638100" cy="529500"/>
          </a:xfrm>
          <a:prstGeom prst="ellipse">
            <a:avLst/>
          </a:prstGeom>
          <a:solidFill>
            <a:srgbClr val="FFFFFF"/>
          </a:solidFill>
          <a:ln cap="flat" cmpd="sng" w="28250">
            <a:solidFill>
              <a:srgbClr val="E9990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7775" lIns="67775" spcFirstLastPara="1" rIns="67775" wrap="square" tIns="67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5c1867a2.png" id="323" name="Google Shape;323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37235" y="1091760"/>
            <a:ext cx="310717" cy="289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6275" y="2099950"/>
            <a:ext cx="7389300" cy="3654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4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question mark" id="331" name="Google Shape;331;p24"/>
          <p:cNvPicPr preferRelativeResize="0"/>
          <p:nvPr/>
        </p:nvPicPr>
        <p:blipFill rotWithShape="1">
          <a:blip r:embed="rId3">
            <a:alphaModFix/>
          </a:blip>
          <a:srcRect b="10638" l="0" r="0" t="10638"/>
          <a:stretch/>
        </p:blipFill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4"/>
          <p:cNvSpPr/>
          <p:nvPr/>
        </p:nvSpPr>
        <p:spPr>
          <a:xfrm>
            <a:off x="6572250" y="2713930"/>
            <a:ext cx="4079579" cy="14454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4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5344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Any</a:t>
            </a:r>
            <a:br>
              <a:rPr i="0" lang="en-US" sz="5344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5344" u="none" cap="none" strike="noStrike">
                <a:solidFill>
                  <a:srgbClr val="F5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questions?</a:t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99B5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99B5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